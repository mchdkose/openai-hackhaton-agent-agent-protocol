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b750812134157" /><Relationship Type="http://schemas.openxmlformats.org/officeDocument/2006/relationships/extended-properties" Target="/docProps/app.xml" Id="R2ad812d7f2804e24" /><Relationship Type="http://schemas.openxmlformats.org/officeDocument/2006/relationships/officeDocument" Target="/ppt/presentation.xml" Id="R169b18ffd7274eee" /></Relationships>
</file>

<file path=ppt/presentation.xml><?xml version="1.0" encoding="utf-8"?>
<p:presentation xmlns:p="http://schemas.openxmlformats.org/presentationml/2006/main">
  <p:sldMasterIdLst>
    <p:sldMasterId xmlns:r="http://schemas.openxmlformats.org/officeDocument/2006/relationships" id="2147483648" r:id="R016cc9b5d78e47a3"/>
  </p:sldMasterIdLst>
  <p:notesMasterIdLst>
    <p:notesMasterId xmlns:r="http://schemas.openxmlformats.org/officeDocument/2006/relationships" r:id="Rd779889d5cab4968"/>
  </p:notesMasterIdLst>
  <p:sldIdLst>
    <p:sldId xmlns:r="http://schemas.openxmlformats.org/officeDocument/2006/relationships" id="256" r:id="Re52165d014ef4f2f"/>
    <p:sldId xmlns:r="http://schemas.openxmlformats.org/officeDocument/2006/relationships" id="257" r:id="Ref8dd8dc2faa4b46"/>
    <p:sldId xmlns:r="http://schemas.openxmlformats.org/officeDocument/2006/relationships" id="258" r:id="Recfc0b11e18e4b3a"/>
    <p:sldId xmlns:r="http://schemas.openxmlformats.org/officeDocument/2006/relationships" id="259" r:id="R4e1a843ea44d46cc"/>
    <p:sldId xmlns:r="http://schemas.openxmlformats.org/officeDocument/2006/relationships" id="260" r:id="R8b8a423041af4c40"/>
    <p:sldId xmlns:r="http://schemas.openxmlformats.org/officeDocument/2006/relationships" id="261" r:id="R8f9ce67f21dd4085"/>
    <p:sldId xmlns:r="http://schemas.openxmlformats.org/officeDocument/2006/relationships" id="262" r:id="Rb192ab03e11349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6ce78c600a434e" /><Relationship Type="http://schemas.openxmlformats.org/officeDocument/2006/relationships/slideMaster" Target="/ppt/slideMasters/slideMaster1.xml" Id="R016cc9b5d78e47a3" /><Relationship Type="http://schemas.openxmlformats.org/officeDocument/2006/relationships/notesMaster" Target="/ppt/notesMasters/notesMaster1.xml" Id="Rd779889d5cab4968" /><Relationship Type="http://schemas.openxmlformats.org/officeDocument/2006/relationships/presProps" Target="/ppt/presProps.xml" Id="R89efb55ef95b4d4a" /><Relationship Type="http://schemas.openxmlformats.org/officeDocument/2006/relationships/tableStyles" Target="/ppt/tableStyles.xml" Id="R33dbdb7878ca4668" /><Relationship Type="http://schemas.openxmlformats.org/officeDocument/2006/relationships/slide" Target="/ppt/slides/slide1.xml" Id="Re52165d014ef4f2f" /><Relationship Type="http://schemas.openxmlformats.org/officeDocument/2006/relationships/slide" Target="/ppt/slides/slide2.xml" Id="Ref8dd8dc2faa4b46" /><Relationship Type="http://schemas.openxmlformats.org/officeDocument/2006/relationships/slide" Target="/ppt/slides/slide3.xml" Id="Recfc0b11e18e4b3a" /><Relationship Type="http://schemas.openxmlformats.org/officeDocument/2006/relationships/slide" Target="/ppt/slides/slide4.xml" Id="R4e1a843ea44d46cc" /><Relationship Type="http://schemas.openxmlformats.org/officeDocument/2006/relationships/slide" Target="/ppt/slides/slide5.xml" Id="R8b8a423041af4c40" /><Relationship Type="http://schemas.openxmlformats.org/officeDocument/2006/relationships/slide" Target="/ppt/slides/slide6.xml" Id="R8f9ce67f21dd4085" /><Relationship Type="http://schemas.openxmlformats.org/officeDocument/2006/relationships/slide" Target="/ppt/slides/slide7.xml" Id="Rb192ab03e11349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aede9a3bf549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skAgent Editorial">
      <a:dk1>
        <a:srgbClr val="20231E"/>
      </a:dk1>
      <a:lt1>
        <a:srgbClr val="F7F7F2"/>
      </a:lt1>
      <a:dk2>
        <a:srgbClr val="304C3C"/>
      </a:dk2>
      <a:lt2>
        <a:srgbClr val="FFFFFF"/>
      </a:lt2>
      <a:accent1>
        <a:srgbClr val="C4DF92"/>
      </a:accent1>
      <a:accent2>
        <a:srgbClr val="304C3C"/>
      </a:accent2>
      <a:accent3>
        <a:srgbClr val="6C6F69"/>
      </a:accent3>
      <a:accent4>
        <a:srgbClr val="DCDED6"/>
      </a:accent4>
      <a:accent5>
        <a:srgbClr val="D4C3A5"/>
      </a:accent5>
      <a:accent6>
        <a:srgbClr val="9B3D33"/>
      </a:accent6>
      <a:hlink>
        <a:srgbClr val="304C3C"/>
      </a:hlink>
      <a:folHlink>
        <a:srgbClr val="6C6F69"/>
      </a:folHlink>
    </a:clrScheme>
    <a:fontScheme name="">
      <a:majorFont>
        <a:latin typeface="Arial"/>
        <a:ea typeface=""/>
        <a:cs typeface=""/>
      </a:majorFont>
      <a:minorFont>
        <a:latin typeface="Arial"/>
        <a:ea typeface=""/>
        <a:cs typeface=""/>
      </a:minorFont>
    </a:fontScheme>
    <a:fmtScheme name="AskAgen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000f6c03d4025" /><Relationship Type="http://schemas.openxmlformats.org/officeDocument/2006/relationships/notesMaster" Target="/ppt/notesMasters/notesMaster1.xml" Id="R787c6419c65846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75a746d04d4b68" /><Relationship Type="http://schemas.openxmlformats.org/officeDocument/2006/relationships/notesMaster" Target="/ppt/notesMasters/notesMaster1.xml" Id="Rb1f4ebb5461542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4d234d6aec466e" /><Relationship Type="http://schemas.openxmlformats.org/officeDocument/2006/relationships/notesMaster" Target="/ppt/notesMasters/notesMaster1.xml" Id="R76edbcf0dfd54e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d48ad7a6714323" /><Relationship Type="http://schemas.openxmlformats.org/officeDocument/2006/relationships/notesMaster" Target="/ppt/notesMasters/notesMaster1.xml" Id="R38401b91b85e45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23e0ba94284d33" /><Relationship Type="http://schemas.openxmlformats.org/officeDocument/2006/relationships/notesMaster" Target="/ppt/notesMasters/notesMaster1.xml" Id="Rab8986f538384c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5cbf0953994922" /><Relationship Type="http://schemas.openxmlformats.org/officeDocument/2006/relationships/notesMaster" Target="/ppt/notesMasters/notesMaster1.xml" Id="Rdce796977c1b47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e9d94d44e348f3" /><Relationship Type="http://schemas.openxmlformats.org/officeDocument/2006/relationships/notesMaster" Target="/ppt/notesMasters/notesMaster1.xml" Id="Rbcbf47a86ec64c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app/askagent/route.ts; lib/service.ts. AskAgent v0.1 supports conversations between a visiting agent and a website-specific counterpart using ordinary HTTP links. Conceptual illustration: docs/pitch/assets/agent-link-v2.png, created with the built-in ImageGen tool. Exact generation prompt: Use case: stylized-concept. Asset type: editorial illustration for a professional hackathon pitch deck about direct conversations between a visiting AI agent and a website-specific expert agent. Primary request: a premium sculptural still life showing exactly two large three-dimensional conversation glyphs facing one another, linked by one short elegant lime-green connector. One glyph is matte ivory with a fine dark edge; the other is deep forest green. They have the familiar simple chat-bubble silhouette and are solid sculptural objects, not flat UI panels. Style: refined contemporary industrial-design render, calm Swiss editorial taste, precise soft bevels, realistic matte ceramic texture, subtle restrained shadows, no shine. Composition: square image, centered pair of sculptures occupying most of the frame with generous clear space around the objects, eye-level shallow perspective. Colors: ivory #F7F7F2, charcoal #20231E, forest #304C3C, restrained lime #C4DF92. Background: genuinely transparent, preserve alpha around the whole pair and its subtle shadows. The metaphor is one direct conversation, equal counterpart agents. No text, letters, numbers, logos, webpage, browser screen, icons inside bubbles, robot faces, people, flowers, particles, network mesh, dashboards, gradients, glow, chrome, or watermark. Deliver a polished high-resolution isolated illustration, with each conversation shape clearly separated and the linking piece visible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https://llmstxt.org/ (official llms.txt proposal); app/llms.txt/route.ts; user-provided product framing. The comparison describes architectural responsibilities, not a measured performance result. llms.txt supplies context and guidance and can help discover an AskAgent endpoint. AskAgent does not promise universal compatibility with every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lib/catalog.ts; lib/service.ts; docs/architecture.md. The current website adapter uses each merchant’s catalog and delivery rules. Further website domains require adapters. Conceptual illustration: docs/pitch/assets/website-expert-v2.png, created with the built-in ImageGen tool. Exact generation prompt: Use case: stylized-concept. Asset type: isolated editorial illustration for a professional pitch deck explaining a website-specific AI agent. Primary request: one substantial matte ivory rectangular portal frame, like a simplified architectural symbol for a website, with one large deep-forest-green sculptural chat bubble standing inside it. Two thin blank ivory document slabs sit neatly at the base inside the frame, representing the site's own data and business rules. The chat sculpture is the dominant subject and feels prepared and precise. Style: premium contemporary industrial-design still life, restrained Swiss editorial composition, realistic matte ceramic surfaces, clean small bevels, subtle natural shadows, matching a palette of #F7F7F2 ivory, #20231E charcoal, #304C3C forest green, and a very small #C4DF92 lime detail on the interior base. Composition: square canvas, one centered complete object, front three-quarter view with slight perspective, generous breathing room, isolated with genuine transparent alpha. This is a conceptual sculpture, not a browser screenshot or a UI mockup. No writing, letters, numbers, logos, controls, buttons, robot faces, people, flowers, gradients, glow, reflective chrome, extra network elements, particles, or watermark. Keep the complete frame and the entire chat sculpture within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app/askagent/route.ts; app/.well-known/askagent.json/route.ts; lib/links.ts; lib/service.ts. The current contract provides discovery, questions, evidence, quotes, transcript, continuation, and human handoff. Responses expose full next-step URLs in Markdown, HTML, or JSON. The caller needs web access and must follow these links. It needs no MCP server or connector 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lib/types.ts (AskEnvelope); lib/links.ts; lib/service.ts; lib/quote.ts; components/product-checkout.tsx. The prototype returns source facts, deterministic quotes, complete continuation URLs, and short-lived merchant-scoped conversation handles. Checkout revalidates the quote. The human explicitly confirms a simulated order and no payment is taken.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tenants/rose-and-stem/tenant.json; tenants/petal-atelier/tenant.json; tenants/tulip-house/tenant.json; lib/catalog.ts; lib/quote.ts; README.md. The demo request is at least 25 red roses to Kadikoy by 20:00, under 1,500 TRY including delivery. Rose &amp; Stem: product 1,280 TRY + delivery 90 TRY = 1,370 TRY, by 19:30. Petal Atelier cannot fulfil the stem count and today’s delivery. Tulip House offers 25 pink roses for 1,100 TRY and needs explicit color acceptance. All catalogs, delivery promises and orders are fictional. The scenario clock is 12 October 2026 at 17:00 Istanbul time. This demonstrates a florist adapter, not deployment on three real merchant websites.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(final paragraph); user-provided product vision. Current implementation: florist adapter with conversation, evidence, quotes, continuation, and human handoff. Real merchant pilots and additional website adapters are proposed next steps, not implemented deployments or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7fb58fec2c48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aa487cf3aa46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67c164a6c44b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4377711d644e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c1cc03914647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dc26c9dc1044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EE23EB-39FD-4378-9B8C-E18146E39B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CD277B-03A5-4A17-845F-2E19612615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F085F0-D1F6-4E3D-91E2-26904EA27B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9BA82C-6E7D-41B5-8E62-DCF7321B5B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8AF2C3-537E-4F0A-B628-FA0759BB1F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4B9390-DA09-4E4B-86FC-08F4725A64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69EC09-DF79-4359-94CA-C4586AEE62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1D0533-6718-47AA-A760-1649387500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D8F678-F420-42CB-AFE2-1B27C296B5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784E2-D45D-411C-8BF5-C8479B0380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20716c957b4069" /><Relationship Type="http://schemas.openxmlformats.org/officeDocument/2006/relationships/slideLayout" Target="/ppt/slideLayouts/slideLayout1.xml" Id="Rae9066b62b7f47bd" /><Relationship Type="http://schemas.openxmlformats.org/officeDocument/2006/relationships/slideLayout" Target="/ppt/slideLayouts/slideLayout2.xml" Id="R3c2961fa40434aeb" /><Relationship Type="http://schemas.openxmlformats.org/officeDocument/2006/relationships/slideLayout" Target="/ppt/slideLayouts/slideLayout3.xml" Id="Rc4f1c04032bf4683" /><Relationship Type="http://schemas.openxmlformats.org/officeDocument/2006/relationships/slideLayout" Target="/ppt/slideLayouts/slideLayout4.xml" Id="Rb29272e14ead4cd5" /><Relationship Type="http://schemas.openxmlformats.org/officeDocument/2006/relationships/slideLayout" Target="/ppt/slideLayouts/slideLayout5.xml" Id="Ra67259230270415b" /><Relationship Type="http://schemas.openxmlformats.org/officeDocument/2006/relationships/slideLayout" Target="/ppt/slideLayouts/slideLayout6.xml" Id="R3ce2b843a44949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9066b62b7f47bd"/>
    <p:sldLayoutId xmlns:r="http://schemas.openxmlformats.org/officeDocument/2006/relationships" id="2147483650" r:id="R3c2961fa40434aeb"/>
    <p:sldLayoutId xmlns:r="http://schemas.openxmlformats.org/officeDocument/2006/relationships" id="2147483651" r:id="Rc4f1c04032bf4683"/>
    <p:sldLayoutId xmlns:r="http://schemas.openxmlformats.org/officeDocument/2006/relationships" id="2147483652" r:id="Rb29272e14ead4cd5"/>
    <p:sldLayoutId xmlns:r="http://schemas.openxmlformats.org/officeDocument/2006/relationships" id="2147483653" r:id="Ra67259230270415b"/>
    <p:sldLayoutId xmlns:r="http://schemas.openxmlformats.org/officeDocument/2006/relationships" id="2147483654" r:id="R3ce2b843a44949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skAgent Editorial">
      <a:dk1>
        <a:srgbClr val="20231E"/>
      </a:dk1>
      <a:lt1>
        <a:srgbClr val="F7F7F2"/>
      </a:lt1>
      <a:dk2>
        <a:srgbClr val="304C3C"/>
      </a:dk2>
      <a:lt2>
        <a:srgbClr val="FFFFFF"/>
      </a:lt2>
      <a:accent1>
        <a:srgbClr val="C4DF92"/>
      </a:accent1>
      <a:accent2>
        <a:srgbClr val="304C3C"/>
      </a:accent2>
      <a:accent3>
        <a:srgbClr val="6C6F69"/>
      </a:accent3>
      <a:accent4>
        <a:srgbClr val="DCDED6"/>
      </a:accent4>
      <a:accent5>
        <a:srgbClr val="D4C3A5"/>
      </a:accent5>
      <a:accent6>
        <a:srgbClr val="9B3D33"/>
      </a:accent6>
      <a:hlink>
        <a:srgbClr val="304C3C"/>
      </a:hlink>
      <a:folHlink>
        <a:srgbClr val="6C6F69"/>
      </a:folHlink>
    </a:clrScheme>
    <a:fontScheme name="">
      <a:majorFont>
        <a:latin typeface="Arial"/>
        <a:ea typeface=""/>
        <a:cs typeface=""/>
      </a:majorFont>
      <a:minorFont>
        <a:latin typeface="Arial"/>
        <a:ea typeface=""/>
        <a:cs typeface=""/>
      </a:minorFont>
    </a:fontScheme>
    <a:fmtScheme name="AskAgen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b1bf3faca14431" /><Relationship Type="http://schemas.openxmlformats.org/officeDocument/2006/relationships/image" Target="/ppt/media/image.png" Id="R84a954192fe84fce" /><Relationship Type="http://schemas.openxmlformats.org/officeDocument/2006/relationships/notesSlide" Target="/ppt/notesSlides/notesSlide1.xml" Id="R50c022a12ae544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995d7a1f1e4da5" /><Relationship Type="http://schemas.openxmlformats.org/officeDocument/2006/relationships/notesSlide" Target="/ppt/notesSlides/notesSlide2.xml" Id="Refee76d922c947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f20780fc3c428b" /><Relationship Type="http://schemas.openxmlformats.org/officeDocument/2006/relationships/image" Target="/ppt/media/image2.png" Id="Redd8e5118b8b45ae" /><Relationship Type="http://schemas.openxmlformats.org/officeDocument/2006/relationships/notesSlide" Target="/ppt/notesSlides/notesSlide3.xml" Id="R272718d358a44d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74c71d207e4376" /><Relationship Type="http://schemas.openxmlformats.org/officeDocument/2006/relationships/notesSlide" Target="/ppt/notesSlides/notesSlide4.xml" Id="R91707980b08041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a165cbac614202" /><Relationship Type="http://schemas.openxmlformats.org/officeDocument/2006/relationships/notesSlide" Target="/ppt/notesSlides/notesSlide5.xml" Id="Reff44141990448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fff1ee68e04e90" /><Relationship Type="http://schemas.openxmlformats.org/officeDocument/2006/relationships/notesSlide" Target="/ppt/notesSlides/notesSlide6.xml" Id="R130c3f3761df4b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3f1cd69cd24e98" /><Relationship Type="http://schemas.openxmlformats.org/officeDocument/2006/relationships/notesSlide" Target="/ppt/notesSlides/notesSlide7.xml" Id="R8856bcdb8b2f4666"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1D34032-67D7-4815-AEA1-161993443582}"/>
              </a:ext>
            </a:extLst>
          </p:cNvPr>
          <p:cNvPicPr>
            <a:picLocks xmlns:a="http://schemas.openxmlformats.org/drawingml/2006/main" noChangeAspect="1"/>
          </p:cNvPicPr>
          <p:nvPr/>
        </p:nvPicPr>
        <p:blipFill>
          <a:blip xmlns:r="http://schemas.openxmlformats.org/officeDocument/2006/relationships" xmlns:a="http://schemas.openxmlformats.org/drawingml/2006/main" r:embed="R84a954192fe84fce"/>
          <a:stretch xmlns:a="http://schemas.openxmlformats.org/drawingml/2006/main"/>
        </p:blipFill>
        <p:spPr>
          <a:xfrm xmlns:a="http://schemas.openxmlformats.org/drawingml/2006/main">
            <a:off x="5848350" y="400050"/>
            <a:ext cx="6000750" cy="60007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9227DE6-F660-413C-B842-CD6C8CC69266}"/>
              </a:ext>
            </a:extLst>
          </p:cNvPr>
          <p:cNvSpPr>
            <a:spLocks xmlns:a="http://schemas.openxmlformats.org/drawingml/2006/main" noGrp="1"/>
          </p:cNvSpPr>
          <p:nvPr/>
        </p:nvSpPr>
        <p:spPr>
          <a:xfrm xmlns:a="http://schemas.openxmlformats.org/drawingml/2006/main">
            <a:off x="609600" y="1419225"/>
            <a:ext cx="53149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20231E"/>
                </a:solidFill>
                <a:latin typeface="Arial"/>
                <a:ea typeface="Arial"/>
                <a:cs typeface="Arial"/>
              </a:defRPr>
            </a:defPPr>
          </a:lstStyle>
          <a:p xmlns:a="http://schemas.openxmlformats.org/drawingml/2006/main">
            <a:pPr algn="l">
              <a:defRPr sz="6900" b="1">
                <a:solidFill>
                  <a:srgbClr val="20231E"/>
                </a:solidFill>
                <a:latin typeface="Arial"/>
                <a:ea typeface="Arial"/>
                <a:cs typeface="Arial"/>
              </a:defRPr>
            </a:pPr>
            <a:r>
              <a:rPr sz="6900" b="1">
                <a:solidFill>
                  <a:srgbClr val="20231E"/>
                </a:solidFill>
                <a:latin typeface="Arial"/>
                <a:ea typeface="Arial"/>
                <a:cs typeface="Arial"/>
              </a:rPr>
              <a:t>AskAgent</a:t>
            </a:r>
          </a:p>
          <a:p xmlns:a="http://schemas.openxmlformats.org/drawingml/2006/main">
            <a:pPr algn="l">
              <a:defRPr sz="6900" b="1">
                <a:solidFill>
                  <a:srgbClr val="20231E"/>
                </a:solidFill>
                <a:latin typeface="Arial"/>
                <a:ea typeface="Arial"/>
                <a:cs typeface="Arial"/>
              </a:defRPr>
            </a:pPr>
            <a:r>
              <a:rPr sz="6900" b="1">
                <a:solidFill>
                  <a:srgbClr val="20231E"/>
                </a:solidFill>
                <a:latin typeface="Arial"/>
                <a:ea typeface="Arial"/>
                <a:cs typeface="Arial"/>
              </a:rPr>
              <a:t>Protocol</a:t>
            </a:r>
          </a:p>
        </p:txBody>
      </p:sp>
      <p:sp>
        <p:nvSpPr>
          <p:cNvPr id="3" name="opening">
            <a:extLst xmlns:a="http://schemas.openxmlformats.org/drawingml/2006/main">
              <a:ext uri="{FF2B5EF4-FFF2-40B4-BE49-F238E27FC236}">
                <a16:creationId xmlns:a16="http://schemas.microsoft.com/office/drawing/2014/main" id="{52FA9463-6645-42A5-A267-1A6641158CD6}"/>
              </a:ext>
            </a:extLst>
          </p:cNvPr>
          <p:cNvSpPr>
            <a:spLocks xmlns:a="http://schemas.openxmlformats.org/drawingml/2006/main" noGrp="1"/>
          </p:cNvSpPr>
          <p:nvPr/>
        </p:nvSpPr>
        <p:spPr>
          <a:xfrm xmlns:a="http://schemas.openxmlformats.org/drawingml/2006/main">
            <a:off x="647700" y="4067175"/>
            <a:ext cx="51054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0231E"/>
                </a:solidFill>
                <a:latin typeface="Arial"/>
                <a:ea typeface="Arial"/>
                <a:cs typeface="Arial"/>
              </a:defRPr>
            </a:defPPr>
          </a:lstStyle>
          <a:p xmlns:a="http://schemas.openxmlformats.org/drawingml/2006/main">
            <a:pPr algn="l">
              <a:defRPr sz="2700" b="0">
                <a:solidFill>
                  <a:srgbClr val="20231E"/>
                </a:solidFill>
                <a:latin typeface="Arial"/>
                <a:ea typeface="Arial"/>
                <a:cs typeface="Arial"/>
              </a:defRPr>
            </a:pPr>
            <a:r>
              <a:rPr sz="2700" b="0">
                <a:solidFill>
                  <a:srgbClr val="20231E"/>
                </a:solidFill>
                <a:latin typeface="Arial"/>
                <a:ea typeface="Arial"/>
                <a:cs typeface="Arial"/>
              </a:rPr>
              <a:t>Your agent talks to</a:t>
            </a:r>
          </a:p>
          <a:p xmlns:a="http://schemas.openxmlformats.org/drawingml/2006/main">
            <a:pPr algn="l">
              <a:defRPr sz="2700" b="0">
                <a:solidFill>
                  <a:srgbClr val="20231E"/>
                </a:solidFill>
                <a:latin typeface="Arial"/>
                <a:ea typeface="Arial"/>
                <a:cs typeface="Arial"/>
              </a:defRPr>
            </a:pPr>
            <a:r>
              <a:rPr sz="2700" b="0">
                <a:solidFill>
                  <a:srgbClr val="20231E"/>
                </a:solidFill>
                <a:latin typeface="Arial"/>
                <a:ea typeface="Arial"/>
                <a:cs typeface="Arial"/>
              </a:rPr>
              <a:t>the website’s agent.</a:t>
            </a:r>
          </a:p>
        </p:txBody>
      </p:sp>
      <p:sp>
        <p:nvSpPr>
          <p:cNvPr id="4" name="cover-description">
            <a:extLst xmlns:a="http://schemas.openxmlformats.org/drawingml/2006/main">
              <a:ext uri="{FF2B5EF4-FFF2-40B4-BE49-F238E27FC236}">
                <a16:creationId xmlns:a16="http://schemas.microsoft.com/office/drawing/2014/main" id="{B02062A0-A454-4844-A7F1-F6AD5A45869F}"/>
              </a:ext>
            </a:extLst>
          </p:cNvPr>
          <p:cNvSpPr>
            <a:spLocks xmlns:a="http://schemas.openxmlformats.org/drawingml/2006/main" noGrp="1"/>
          </p:cNvSpPr>
          <p:nvPr/>
        </p:nvSpPr>
        <p:spPr>
          <a:xfrm xmlns:a="http://schemas.openxmlformats.org/drawingml/2006/main">
            <a:off x="647700" y="59436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C6F69"/>
                </a:solidFill>
                <a:latin typeface="Arial"/>
                <a:ea typeface="Arial"/>
                <a:cs typeface="Arial"/>
              </a:defRPr>
            </a:defPPr>
          </a:lstStyle>
          <a:p xmlns:a="http://schemas.openxmlformats.org/drawingml/2006/main">
            <a:pPr algn="l">
              <a:defRPr sz="2025" b="0">
                <a:solidFill>
                  <a:srgbClr val="6C6F69"/>
                </a:solidFill>
                <a:latin typeface="Arial"/>
                <a:ea typeface="Arial"/>
                <a:cs typeface="Arial"/>
              </a:defRPr>
            </a:pPr>
            <a:r>
              <a:rPr sz="2025" b="0">
                <a:solidFill>
                  <a:srgbClr val="6C6F69"/>
                </a:solidFill>
                <a:latin typeface="Arial"/>
                <a:ea typeface="Arial"/>
                <a:cs typeface="Arial"/>
              </a:rPr>
              <a:t>The website’s own expert, reachable through a link.</a:t>
            </a:r>
          </a:p>
        </p:txBody>
      </p:sp>
    </p:spTree>
    <p:extLst>
      <p:ext uri="{BB962C8B-B14F-4D97-AF65-F5344CB8AC3E}">
        <p14:creationId xmlns:p14="http://schemas.microsoft.com/office/powerpoint/2010/main" val="929740743"/>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page-number">
            <a:extLst xmlns:a="http://schemas.openxmlformats.org/drawingml/2006/main">
              <a:ext uri="{FF2B5EF4-FFF2-40B4-BE49-F238E27FC236}">
                <a16:creationId xmlns:a16="http://schemas.microsoft.com/office/drawing/2014/main" id="{1939C0D0-3C66-4F44-8F0C-98FD81BD9CD3}"/>
              </a:ext>
            </a:extLst>
          </p:cNvPr>
          <p:cNvSpPr>
            <a:spLocks xmlns:a="http://schemas.openxmlformats.org/drawingml/2006/main" noGrp="1"/>
          </p:cNvSpPr>
          <p:nvPr/>
        </p:nvSpPr>
        <p:spPr>
          <a:xfrm xmlns:a="http://schemas.openxmlformats.org/drawingml/2006/main">
            <a:off x="10915650" y="34290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C6F69"/>
                </a:solidFill>
                <a:latin typeface="Arial"/>
                <a:ea typeface="Arial"/>
                <a:cs typeface="Arial"/>
              </a:defRPr>
            </a:defPPr>
          </a:lstStyle>
          <a:p xmlns:a="http://schemas.openxmlformats.org/drawingml/2006/main">
            <a:pPr algn="r">
              <a:defRPr sz="1350" b="0">
                <a:solidFill>
                  <a:srgbClr val="6C6F69"/>
                </a:solidFill>
                <a:latin typeface="Arial"/>
                <a:ea typeface="Arial"/>
                <a:cs typeface="Arial"/>
              </a:defRPr>
            </a:pPr>
            <a:r>
              <a:rPr sz="1350" b="0">
                <a:solidFill>
                  <a:srgbClr val="6C6F69"/>
                </a:solidFill>
                <a:latin typeface="Arial"/>
                <a:ea typeface="Arial"/>
                <a:cs typeface="Arial"/>
              </a:rPr>
              <a:t>2 / 7</a:t>
            </a:r>
          </a:p>
        </p:txBody>
      </p:sp>
      <p:sp>
        <p:nvSpPr>
          <p:cNvPr id="2" name="slide-title">
            <a:extLst xmlns:a="http://schemas.openxmlformats.org/drawingml/2006/main">
              <a:ext uri="{FF2B5EF4-FFF2-40B4-BE49-F238E27FC236}">
                <a16:creationId xmlns:a16="http://schemas.microsoft.com/office/drawing/2014/main" id="{23D7A5AF-47CE-4661-9459-1DA4BAF382E8}"/>
              </a:ext>
            </a:extLst>
          </p:cNvPr>
          <p:cNvSpPr>
            <a:spLocks xmlns:a="http://schemas.openxmlformats.org/drawingml/2006/main" noGrp="1"/>
          </p:cNvSpPr>
          <p:nvPr/>
        </p:nvSpPr>
        <p:spPr>
          <a:xfrm xmlns:a="http://schemas.openxmlformats.org/drawingml/2006/main">
            <a:off x="609600" y="685800"/>
            <a:ext cx="1062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0231E"/>
                </a:solidFill>
                <a:latin typeface="Arial"/>
                <a:ea typeface="Arial"/>
                <a:cs typeface="Arial"/>
              </a:defRPr>
            </a:defPPr>
          </a:lstStyle>
          <a:p xmlns:a="http://schemas.openxmlformats.org/drawingml/2006/main">
            <a:pPr algn="l">
              <a:defRPr sz="3900" b="1">
                <a:solidFill>
                  <a:srgbClr val="20231E"/>
                </a:solidFill>
                <a:latin typeface="Arial"/>
                <a:ea typeface="Arial"/>
                <a:cs typeface="Arial"/>
              </a:defRPr>
            </a:pPr>
            <a:r>
              <a:rPr sz="3900" b="1">
                <a:solidFill>
                  <a:srgbClr val="20231E"/>
                </a:solidFill>
                <a:latin typeface="Arial"/>
                <a:ea typeface="Arial"/>
                <a:cs typeface="Arial"/>
              </a:rPr>
              <a:t>How agents access a website</a:t>
            </a:r>
          </a:p>
        </p:txBody>
      </p:sp>
      <p:graphicFrame>
        <p:nvGraphicFramePr>
          <p:cNvPr id="3" name="">
            <a:extLst xmlns:a="http://schemas.openxmlformats.org/drawingml/2006/main">
              <a:ext uri="{FF2B5EF4-FFF2-40B4-BE49-F238E27FC236}">
                <a16:creationId xmlns:a16="http://schemas.microsoft.com/office/drawing/2014/main" id="{97E80D4B-A584-4FFB-AAAF-A0E98197F70F}"/>
              </a:ext>
            </a:extLst>
          </p:cNvPr>
          <p:cNvGraphicFramePr/>
          <p:nvPr/>
        </p:nvGraphicFramePr>
        <p:xfrm>
          <a:off xmlns:a="http://schemas.openxmlformats.org/drawingml/2006/main" x="609600" y="2000250"/>
          <a:ext xmlns:a="http://schemas.openxmlformats.org/drawingml/2006/main" cx="10972800" cy="3771900"/>
        </p:xfrm>
        <a:graphic xmlns:a="http://schemas.openxmlformats.org/drawingml/2006/main">
          <a:graphicData uri="http://schemas.openxmlformats.org/drawingml/2006/table">
            <a:tbl>
              <a:tblPr firstRow="0" bandRow="0" bandCol="0"/>
              <a:tblGrid>
                <a:gridCol w="2181225"/>
                <a:gridCol w="5029200"/>
                <a:gridCol w="3762375"/>
              </a:tblGrid>
              <a:tr h="609600">
                <a:tc>
                  <a:txBody>
                    <a:bodyPr wrap="square">
                      <a:noAutofit/>
                    </a:bodyPr>
                    <a:lstStyle/>
                    <a:p>
                      <a:pPr algn="l"/>
                      <a:r>
                        <a:rPr sz="1650" b="1">
                          <a:solidFill>
                            <a:srgbClr val="6C6F69"/>
                          </a:solidFill>
                          <a:latin typeface="Arial"/>
                          <a:ea typeface="Arial"/>
                          <a:cs typeface="Arial"/>
                        </a:rPr>
                        <a:t>Entry point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1650" b="1">
                          <a:solidFill>
                            <a:srgbClr val="6C6F69"/>
                          </a:solidFill>
                          <a:latin typeface="Arial"/>
                          <a:ea typeface="Arial"/>
                          <a:cs typeface="Arial"/>
                        </a:rPr>
                        <a:t>What the agent receives</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1650" b="1">
                          <a:solidFill>
                            <a:srgbClr val="6C6F69"/>
                          </a:solidFill>
                          <a:latin typeface="Arial"/>
                          <a:ea typeface="Arial"/>
                          <a:cs typeface="Arial"/>
                        </a:rPr>
                        <a:t>Who interprets the site</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r>
              <a:tr h="1047750">
                <a:tc>
                  <a:txBody>
                    <a:bodyPr wrap="square">
                      <a:noAutofit/>
                    </a:bodyPr>
                    <a:lstStyle/>
                    <a:p>
                      <a:pPr algn="l"/>
                      <a:r>
                        <a:rPr sz="2100" b="1">
                          <a:solidFill>
                            <a:srgbClr val="20231E"/>
                          </a:solidFill>
                          <a:latin typeface="Arial"/>
                          <a:ea typeface="Arial"/>
                          <a:cs typeface="Arial"/>
                        </a:rPr>
                        <a:t>llms.txt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2100" b="0">
                          <a:solidFill>
                            <a:srgbClr val="20231E"/>
                          </a:solidFill>
                          <a:latin typeface="Arial"/>
                          <a:ea typeface="Arial"/>
                          <a:cs typeface="Arial"/>
                        </a:rPr>
                        <a:t>Site context, instructions</a:t>
                      </a:r>
                    </a:p>
                    <a:p>
                      <a:pPr algn="l"/>
                      <a:r>
                        <a:rPr sz="2100" b="0">
                          <a:solidFill>
                            <a:srgbClr val="20231E"/>
                          </a:solidFill>
                          <a:latin typeface="Arial"/>
                          <a:ea typeface="Arial"/>
                          <a:cs typeface="Arial"/>
                        </a:rPr>
                        <a:t>and links</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2100" b="0">
                          <a:solidFill>
                            <a:srgbClr val="20231E"/>
                          </a:solidFill>
                          <a:latin typeface="Arial"/>
                          <a:ea typeface="Arial"/>
                          <a:cs typeface="Arial"/>
                        </a:rPr>
                        <a:t>The visiting agent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r>
              <a:tr h="1047750">
                <a:tc>
                  <a:txBody>
                    <a:bodyPr wrap="square">
                      <a:noAutofit/>
                    </a:bodyPr>
                    <a:lstStyle/>
                    <a:p>
                      <a:pPr algn="l"/>
                      <a:r>
                        <a:rPr sz="2100" b="1">
                          <a:solidFill>
                            <a:srgbClr val="20231E"/>
                          </a:solidFill>
                          <a:latin typeface="Arial"/>
                          <a:ea typeface="Arial"/>
                          <a:cs typeface="Arial"/>
                        </a:rPr>
                        <a:t>Browser UI</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2100" b="0">
                          <a:solidFill>
                            <a:srgbClr val="20231E"/>
                          </a:solidFill>
                          <a:latin typeface="Arial"/>
                          <a:ea typeface="Arial"/>
                          <a:cs typeface="Arial"/>
                        </a:rPr>
                        <a:t>Pages and controls</a:t>
                      </a:r>
                    </a:p>
                    <a:p>
                      <a:pPr algn="l"/>
                      <a:r>
                        <a:rPr sz="2100" b="0">
                          <a:solidFill>
                            <a:srgbClr val="20231E"/>
                          </a:solidFill>
                          <a:latin typeface="Arial"/>
                          <a:ea typeface="Arial"/>
                          <a:cs typeface="Arial"/>
                        </a:rPr>
                        <a:t>made for people</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2100" b="0">
                          <a:solidFill>
                            <a:srgbClr val="20231E"/>
                          </a:solidFill>
                          <a:latin typeface="Arial"/>
                          <a:ea typeface="Arial"/>
                          <a:cs typeface="Arial"/>
                        </a:rPr>
                        <a:t>The visiting agent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r>
              <a:tr h="1066800">
                <a:tc>
                  <a:txBody>
                    <a:bodyPr wrap="square">
                      <a:noAutofit/>
                    </a:bodyPr>
                    <a:lstStyle/>
                    <a:p>
                      <a:pPr algn="l"/>
                      <a:r>
                        <a:rPr sz="2100" b="1">
                          <a:solidFill>
                            <a:srgbClr val="20231E"/>
                          </a:solidFill>
                          <a:latin typeface="Arial"/>
                          <a:ea typeface="Arial"/>
                          <a:cs typeface="Arial"/>
                        </a:rPr>
                        <a:t>AskAgent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C4DF92"/>
                    </a:solidFill>
                  </a:tcPr>
                </a:tc>
                <a:tc>
                  <a:txBody>
                    <a:bodyPr wrap="square">
                      <a:noAutofit/>
                    </a:bodyPr>
                    <a:lstStyle/>
                    <a:p>
                      <a:pPr algn="l"/>
                      <a:r>
                        <a:rPr sz="2100" b="0">
                          <a:solidFill>
                            <a:srgbClr val="20231E"/>
                          </a:solidFill>
                          <a:latin typeface="Arial"/>
                          <a:ea typeface="Arial"/>
                          <a:cs typeface="Arial"/>
                        </a:rPr>
                        <a:t>A site-specific answer</a:t>
                      </a:r>
                    </a:p>
                    <a:p>
                      <a:pPr algn="l"/>
                      <a:r>
                        <a:rPr sz="2100" b="0">
                          <a:solidFill>
                            <a:srgbClr val="20231E"/>
                          </a:solidFill>
                          <a:latin typeface="Arial"/>
                          <a:ea typeface="Arial"/>
                          <a:cs typeface="Arial"/>
                        </a:rPr>
                        <a:t>and links to continue</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C4DF92"/>
                    </a:solidFill>
                  </a:tcPr>
                </a:tc>
                <a:tc>
                  <a:txBody>
                    <a:bodyPr wrap="square">
                      <a:noAutofit/>
                    </a:bodyPr>
                    <a:lstStyle/>
                    <a:p>
                      <a:pPr algn="l"/>
                      <a:r>
                        <a:rPr sz="2100" b="0">
                          <a:solidFill>
                            <a:srgbClr val="20231E"/>
                          </a:solidFill>
                          <a:latin typeface="Arial"/>
                          <a:ea typeface="Arial"/>
                          <a:cs typeface="Arial"/>
                        </a:rPr>
                        <a:t>The website’s agent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C4DF92"/>
                    </a:solidFill>
                  </a:tcPr>
                </a:tc>
              </a:tr>
            </a:tbl>
          </a:graphicData>
        </a:graphic>
      </p:graphicFrame>
      <p:sp>
        <p:nvSpPr>
          <p:cNvPr id="4" name="access-comparison-row-0">
            <a:extLst xmlns:a="http://schemas.openxmlformats.org/drawingml/2006/main">
              <a:ext uri="{FF2B5EF4-FFF2-40B4-BE49-F238E27FC236}">
                <a16:creationId xmlns:a16="http://schemas.microsoft.com/office/drawing/2014/main" id="{75E73246-F459-40E6-ADFB-CE2D37E52563}"/>
              </a:ext>
            </a:extLst>
          </p:cNvPr>
          <p:cNvSpPr>
            <a:spLocks xmlns:a="http://schemas.openxmlformats.org/drawingml/2006/main" noGrp="1"/>
          </p:cNvSpPr>
          <p:nvPr/>
        </p:nvSpPr>
        <p:spPr>
          <a:xfrm xmlns:a="http://schemas.openxmlformats.org/drawingml/2006/main">
            <a:off x="609600" y="2609850"/>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5" name="access-comparison-row-1">
            <a:extLst xmlns:a="http://schemas.openxmlformats.org/drawingml/2006/main">
              <a:ext uri="{FF2B5EF4-FFF2-40B4-BE49-F238E27FC236}">
                <a16:creationId xmlns:a16="http://schemas.microsoft.com/office/drawing/2014/main" id="{64486940-8B84-4FAE-B890-90F31A75FF83}"/>
              </a:ext>
            </a:extLst>
          </p:cNvPr>
          <p:cNvSpPr>
            <a:spLocks xmlns:a="http://schemas.openxmlformats.org/drawingml/2006/main" noGrp="1"/>
          </p:cNvSpPr>
          <p:nvPr/>
        </p:nvSpPr>
        <p:spPr>
          <a:xfrm xmlns:a="http://schemas.openxmlformats.org/drawingml/2006/main">
            <a:off x="609600" y="3657600"/>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6" name="access-comparison-row-2">
            <a:extLst xmlns:a="http://schemas.openxmlformats.org/drawingml/2006/main">
              <a:ext uri="{FF2B5EF4-FFF2-40B4-BE49-F238E27FC236}">
                <a16:creationId xmlns:a16="http://schemas.microsoft.com/office/drawing/2014/main" id="{1E6D60FB-6038-4331-BE0E-86271C1399BD}"/>
              </a:ext>
            </a:extLst>
          </p:cNvPr>
          <p:cNvSpPr>
            <a:spLocks xmlns:a="http://schemas.openxmlformats.org/drawingml/2006/main" noGrp="1"/>
          </p:cNvSpPr>
          <p:nvPr/>
        </p:nvSpPr>
        <p:spPr>
          <a:xfrm xmlns:a="http://schemas.openxmlformats.org/drawingml/2006/main">
            <a:off x="609600" y="4705350"/>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7" name="access-comparison-row-3">
            <a:extLst xmlns:a="http://schemas.openxmlformats.org/drawingml/2006/main">
              <a:ext uri="{FF2B5EF4-FFF2-40B4-BE49-F238E27FC236}">
                <a16:creationId xmlns:a16="http://schemas.microsoft.com/office/drawing/2014/main" id="{685B433D-933C-43ED-AA10-2D877F1E76C0}"/>
              </a:ext>
            </a:extLst>
          </p:cNvPr>
          <p:cNvSpPr>
            <a:spLocks xmlns:a="http://schemas.openxmlformats.org/drawingml/2006/main" noGrp="1"/>
          </p:cNvSpPr>
          <p:nvPr/>
        </p:nvSpPr>
        <p:spPr>
          <a:xfrm xmlns:a="http://schemas.openxmlformats.org/drawingml/2006/main">
            <a:off x="609600" y="5772150"/>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8" name="comparison-takeaway">
            <a:extLst xmlns:a="http://schemas.openxmlformats.org/drawingml/2006/main">
              <a:ext uri="{FF2B5EF4-FFF2-40B4-BE49-F238E27FC236}">
                <a16:creationId xmlns:a16="http://schemas.microsoft.com/office/drawing/2014/main" id="{0B1F4BED-39AA-495E-BF9E-42C6FB268936}"/>
              </a:ext>
            </a:extLst>
          </p:cNvPr>
          <p:cNvSpPr>
            <a:spLocks xmlns:a="http://schemas.openxmlformats.org/drawingml/2006/main" noGrp="1"/>
          </p:cNvSpPr>
          <p:nvPr/>
        </p:nvSpPr>
        <p:spPr>
          <a:xfrm xmlns:a="http://schemas.openxmlformats.org/drawingml/2006/main">
            <a:off x="609600" y="61055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04C3C"/>
                </a:solidFill>
                <a:latin typeface="Arial"/>
                <a:ea typeface="Arial"/>
                <a:cs typeface="Arial"/>
              </a:defRPr>
            </a:defPPr>
          </a:lstStyle>
          <a:p xmlns:a="http://schemas.openxmlformats.org/drawingml/2006/main">
            <a:pPr algn="l">
              <a:defRPr sz="2250" b="1">
                <a:solidFill>
                  <a:srgbClr val="304C3C"/>
                </a:solidFill>
                <a:latin typeface="Arial"/>
                <a:ea typeface="Arial"/>
                <a:cs typeface="Arial"/>
              </a:defRPr>
            </a:pPr>
            <a:r>
              <a:rPr sz="2250" b="1">
                <a:solidFill>
                  <a:srgbClr val="304C3C"/>
                </a:solidFill>
                <a:latin typeface="Arial"/>
                <a:ea typeface="Arial"/>
                <a:cs typeface="Arial"/>
              </a:rPr>
              <a:t>AskAgent puts site-specific reasoning on the website.</a:t>
            </a:r>
          </a:p>
        </p:txBody>
      </p:sp>
    </p:spTree>
    <p:extLst>
      <p:ext uri="{BB962C8B-B14F-4D97-AF65-F5344CB8AC3E}">
        <p14:creationId xmlns:p14="http://schemas.microsoft.com/office/powerpoint/2010/main" val="1506225004"/>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0B6F32DD-EBE6-465A-A5C9-19D1E4A89379}"/>
              </a:ext>
            </a:extLst>
          </p:cNvPr>
          <p:cNvSpPr>
            <a:spLocks xmlns:a="http://schemas.openxmlformats.org/drawingml/2006/main" noGrp="1"/>
          </p:cNvSpPr>
          <p:nvPr/>
        </p:nvSpPr>
        <p:spPr>
          <a:xfrm xmlns:a="http://schemas.openxmlformats.org/drawingml/2006/main">
            <a:off x="10915650" y="34290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C6F69"/>
                </a:solidFill>
                <a:latin typeface="Arial"/>
                <a:ea typeface="Arial"/>
                <a:cs typeface="Arial"/>
              </a:defRPr>
            </a:defPPr>
          </a:lstStyle>
          <a:p xmlns:a="http://schemas.openxmlformats.org/drawingml/2006/main">
            <a:pPr algn="r">
              <a:defRPr sz="1350" b="0">
                <a:solidFill>
                  <a:srgbClr val="6C6F69"/>
                </a:solidFill>
                <a:latin typeface="Arial"/>
                <a:ea typeface="Arial"/>
                <a:cs typeface="Arial"/>
              </a:defRPr>
            </a:pPr>
            <a:r>
              <a:rPr sz="1350" b="0">
                <a:solidFill>
                  <a:srgbClr val="6C6F69"/>
                </a:solidFill>
                <a:latin typeface="Arial"/>
                <a:ea typeface="Arial"/>
                <a:cs typeface="Arial"/>
              </a:rPr>
              <a:t>3 / 7</a:t>
            </a:r>
          </a:p>
        </p:txBody>
      </p:sp>
      <p:sp>
        <p:nvSpPr>
          <p:cNvPr id="2" name="slide-title">
            <a:extLst xmlns:a="http://schemas.openxmlformats.org/drawingml/2006/main">
              <a:ext uri="{FF2B5EF4-FFF2-40B4-BE49-F238E27FC236}">
                <a16:creationId xmlns:a16="http://schemas.microsoft.com/office/drawing/2014/main" id="{95045CC0-F871-4D0C-8822-802FC694DF42}"/>
              </a:ext>
            </a:extLst>
          </p:cNvPr>
          <p:cNvSpPr>
            <a:spLocks xmlns:a="http://schemas.openxmlformats.org/drawingml/2006/main" noGrp="1"/>
          </p:cNvSpPr>
          <p:nvPr/>
        </p:nvSpPr>
        <p:spPr>
          <a:xfrm xmlns:a="http://schemas.openxmlformats.org/drawingml/2006/main">
            <a:off x="609600" y="742950"/>
            <a:ext cx="6286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20231E"/>
                </a:solidFill>
                <a:latin typeface="Arial"/>
                <a:ea typeface="Arial"/>
                <a:cs typeface="Arial"/>
              </a:defRPr>
            </a:defPPr>
          </a:lstStyle>
          <a:p xmlns:a="http://schemas.openxmlformats.org/drawingml/2006/main">
            <a:pPr algn="l">
              <a:defRPr sz="4125" b="1">
                <a:solidFill>
                  <a:srgbClr val="20231E"/>
                </a:solidFill>
                <a:latin typeface="Arial"/>
                <a:ea typeface="Arial"/>
                <a:cs typeface="Arial"/>
              </a:defRPr>
            </a:pPr>
            <a:r>
              <a:rPr sz="4125" b="1">
                <a:solidFill>
                  <a:srgbClr val="20231E"/>
                </a:solidFill>
                <a:latin typeface="Arial"/>
                <a:ea typeface="Arial"/>
                <a:cs typeface="Arial"/>
              </a:rPr>
              <a:t>The website’s</a:t>
            </a:r>
          </a:p>
          <a:p xmlns:a="http://schemas.openxmlformats.org/drawingml/2006/main">
            <a:pPr algn="l">
              <a:defRPr sz="4125" b="1">
                <a:solidFill>
                  <a:srgbClr val="20231E"/>
                </a:solidFill>
                <a:latin typeface="Arial"/>
                <a:ea typeface="Arial"/>
                <a:cs typeface="Arial"/>
              </a:defRPr>
            </a:pPr>
            <a:r>
              <a:rPr sz="4125" b="1">
                <a:solidFill>
                  <a:srgbClr val="20231E"/>
                </a:solidFill>
                <a:latin typeface="Arial"/>
                <a:ea typeface="Arial"/>
                <a:cs typeface="Arial"/>
              </a:rPr>
              <a:t>own expert agent</a:t>
            </a:r>
          </a:p>
        </p:txBody>
      </p:sp>
      <p:sp>
        <p:nvSpPr>
          <p:cNvPr id="3" name="local-data">
            <a:extLst xmlns:a="http://schemas.openxmlformats.org/drawingml/2006/main">
              <a:ext uri="{FF2B5EF4-FFF2-40B4-BE49-F238E27FC236}">
                <a16:creationId xmlns:a16="http://schemas.microsoft.com/office/drawing/2014/main" id="{80DE4E4A-664E-41AD-B9B0-1280DBC53B06}"/>
              </a:ext>
            </a:extLst>
          </p:cNvPr>
          <p:cNvSpPr>
            <a:spLocks xmlns:a="http://schemas.openxmlformats.org/drawingml/2006/main" noGrp="1"/>
          </p:cNvSpPr>
          <p:nvPr/>
        </p:nvSpPr>
        <p:spPr>
          <a:xfrm xmlns:a="http://schemas.openxmlformats.org/drawingml/2006/main">
            <a:off x="609600" y="2790825"/>
            <a:ext cx="5695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0231E"/>
                </a:solidFill>
                <a:latin typeface="Arial"/>
                <a:ea typeface="Arial"/>
                <a:cs typeface="Arial"/>
              </a:defRPr>
            </a:defPPr>
          </a:lstStyle>
          <a:p xmlns:a="http://schemas.openxmlformats.org/drawingml/2006/main">
            <a:pPr algn="l">
              <a:defRPr sz="2400" b="0">
                <a:solidFill>
                  <a:srgbClr val="20231E"/>
                </a:solidFill>
                <a:latin typeface="Arial"/>
                <a:ea typeface="Arial"/>
                <a:cs typeface="Arial"/>
              </a:defRPr>
            </a:pPr>
            <a:r>
              <a:rPr sz="2400" b="0">
                <a:solidFill>
                  <a:srgbClr val="20231E"/>
                </a:solidFill>
                <a:latin typeface="Arial"/>
                <a:ea typeface="Arial"/>
                <a:cs typeface="Arial"/>
              </a:rPr>
              <a:t>The site supplies its own data</a:t>
            </a:r>
          </a:p>
          <a:p xmlns:a="http://schemas.openxmlformats.org/drawingml/2006/main">
            <a:pPr algn="l">
              <a:defRPr sz="2400" b="0">
                <a:solidFill>
                  <a:srgbClr val="20231E"/>
                </a:solidFill>
                <a:latin typeface="Arial"/>
                <a:ea typeface="Arial"/>
                <a:cs typeface="Arial"/>
              </a:defRPr>
            </a:pPr>
            <a:r>
              <a:rPr sz="2400" b="0">
                <a:solidFill>
                  <a:srgbClr val="20231E"/>
                </a:solidFill>
                <a:latin typeface="Arial"/>
                <a:ea typeface="Arial"/>
                <a:cs typeface="Arial"/>
              </a:rPr>
              <a:t>and business rules.</a:t>
            </a:r>
          </a:p>
        </p:txBody>
      </p:sp>
      <p:sp>
        <p:nvSpPr>
          <p:cNvPr id="4" name="actual-request">
            <a:extLst xmlns:a="http://schemas.openxmlformats.org/drawingml/2006/main">
              <a:ext uri="{FF2B5EF4-FFF2-40B4-BE49-F238E27FC236}">
                <a16:creationId xmlns:a16="http://schemas.microsoft.com/office/drawing/2014/main" id="{120D94B4-6446-43E7-BCDE-11327CE8E41F}"/>
              </a:ext>
            </a:extLst>
          </p:cNvPr>
          <p:cNvSpPr>
            <a:spLocks xmlns:a="http://schemas.openxmlformats.org/drawingml/2006/main" noGrp="1"/>
          </p:cNvSpPr>
          <p:nvPr/>
        </p:nvSpPr>
        <p:spPr>
          <a:xfrm xmlns:a="http://schemas.openxmlformats.org/drawingml/2006/main">
            <a:off x="609600" y="4257675"/>
            <a:ext cx="5695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0231E"/>
                </a:solidFill>
                <a:latin typeface="Arial"/>
                <a:ea typeface="Arial"/>
                <a:cs typeface="Arial"/>
              </a:defRPr>
            </a:defPPr>
          </a:lstStyle>
          <a:p xmlns:a="http://schemas.openxmlformats.org/drawingml/2006/main">
            <a:pPr algn="l">
              <a:defRPr sz="2400" b="0">
                <a:solidFill>
                  <a:srgbClr val="20231E"/>
                </a:solidFill>
                <a:latin typeface="Arial"/>
                <a:ea typeface="Arial"/>
                <a:cs typeface="Arial"/>
              </a:defRPr>
            </a:pPr>
            <a:r>
              <a:rPr sz="2400" b="0">
                <a:solidFill>
                  <a:srgbClr val="20231E"/>
                </a:solidFill>
                <a:latin typeface="Arial"/>
                <a:ea typeface="Arial"/>
                <a:cs typeface="Arial"/>
              </a:rPr>
              <a:t>Its agent applies that knowledge</a:t>
            </a:r>
          </a:p>
          <a:p xmlns:a="http://schemas.openxmlformats.org/drawingml/2006/main">
            <a:pPr algn="l">
              <a:defRPr sz="2400" b="0">
                <a:solidFill>
                  <a:srgbClr val="20231E"/>
                </a:solidFill>
                <a:latin typeface="Arial"/>
                <a:ea typeface="Arial"/>
                <a:cs typeface="Arial"/>
              </a:defRPr>
            </a:pPr>
            <a:r>
              <a:rPr sz="2400" b="0">
                <a:solidFill>
                  <a:srgbClr val="20231E"/>
                </a:solidFill>
                <a:latin typeface="Arial"/>
                <a:ea typeface="Arial"/>
                <a:cs typeface="Arial"/>
              </a:rPr>
              <a:t>to the visitor’s actual request.</a:t>
            </a:r>
          </a:p>
        </p:txBody>
      </p:sp>
      <p:sp>
        <p:nvSpPr>
          <p:cNvPr id="5" name="expert-takeaway">
            <a:extLst xmlns:a="http://schemas.openxmlformats.org/drawingml/2006/main">
              <a:ext uri="{FF2B5EF4-FFF2-40B4-BE49-F238E27FC236}">
                <a16:creationId xmlns:a16="http://schemas.microsoft.com/office/drawing/2014/main" id="{65471C44-D3A3-4D73-AC6B-CEE3319AD2DD}"/>
              </a:ext>
            </a:extLst>
          </p:cNvPr>
          <p:cNvSpPr>
            <a:spLocks xmlns:a="http://schemas.openxmlformats.org/drawingml/2006/main" noGrp="1"/>
          </p:cNvSpPr>
          <p:nvPr/>
        </p:nvSpPr>
        <p:spPr>
          <a:xfrm xmlns:a="http://schemas.openxmlformats.org/drawingml/2006/main">
            <a:off x="609600" y="6010275"/>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04C3C"/>
                </a:solidFill>
                <a:latin typeface="Arial"/>
                <a:ea typeface="Arial"/>
                <a:cs typeface="Arial"/>
              </a:defRPr>
            </a:defPPr>
          </a:lstStyle>
          <a:p xmlns:a="http://schemas.openxmlformats.org/drawingml/2006/main">
            <a:pPr algn="l">
              <a:defRPr sz="2250" b="1">
                <a:solidFill>
                  <a:srgbClr val="304C3C"/>
                </a:solidFill>
                <a:latin typeface="Arial"/>
                <a:ea typeface="Arial"/>
                <a:cs typeface="Arial"/>
              </a:defRPr>
            </a:pPr>
            <a:r>
              <a:rPr sz="2250" b="1">
                <a:solidFill>
                  <a:srgbClr val="304C3C"/>
                </a:solidFill>
                <a:latin typeface="Arial"/>
                <a:ea typeface="Arial"/>
                <a:cs typeface="Arial"/>
              </a:rPr>
              <a:t>Prepared for this website.</a:t>
            </a:r>
          </a:p>
        </p:txBody>
      </p:sp>
      <p:pic>
        <p:nvPicPr>
          <p:cNvPr id="6" name="">
            <a:extLst xmlns:a="http://schemas.openxmlformats.org/drawingml/2006/main">
              <a:ext uri="{FF2B5EF4-FFF2-40B4-BE49-F238E27FC236}">
                <a16:creationId xmlns:a16="http://schemas.microsoft.com/office/drawing/2014/main" id="{45FCEBF8-C963-42CF-AD2D-BC5042C53EAE}"/>
              </a:ext>
            </a:extLst>
          </p:cNvPr>
          <p:cNvPicPr>
            <a:picLocks xmlns:a="http://schemas.openxmlformats.org/drawingml/2006/main" noChangeAspect="1"/>
          </p:cNvPicPr>
          <p:nvPr/>
        </p:nvPicPr>
        <p:blipFill>
          <a:blip xmlns:r="http://schemas.openxmlformats.org/officeDocument/2006/relationships" xmlns:a="http://schemas.openxmlformats.org/drawingml/2006/main" r:embed="Redd8e5118b8b45ae"/>
          <a:stretch xmlns:a="http://schemas.openxmlformats.org/drawingml/2006/main"/>
        </p:blipFill>
        <p:spPr>
          <a:xfrm xmlns:a="http://schemas.openxmlformats.org/drawingml/2006/main">
            <a:off x="6724650" y="1638300"/>
            <a:ext cx="4895850" cy="4895850"/>
          </a:xfrm>
          <a:prstGeom xmlns:a="http://schemas.openxmlformats.org/drawingml/2006/main" prst="rect">
            <a:avLst/>
          </a:prstGeom>
        </p:spPr>
      </p:pic>
    </p:spTree>
    <p:extLst>
      <p:ext uri="{BB962C8B-B14F-4D97-AF65-F5344CB8AC3E}">
        <p14:creationId xmlns:p14="http://schemas.microsoft.com/office/powerpoint/2010/main" val="1963204406"/>
      </p:ext>
    </p:extLst>
  </p:cSld>
</p:sld>
</file>

<file path=ppt/slides/slide4.xml><?xml version="1.0" encoding="utf-8"?>
<p:sld xmlns:p="http://schemas.openxmlformats.org/presentationml/2006/main">
  <p:cSld>
    <p:bg>
      <p:bgPr>
        <a:solidFill xmlns:a="http://schemas.openxmlformats.org/drawingml/2006/main">
          <a:srgbClr val="20231E"/>
        </a:solidFill>
      </p:bgPr>
    </p:bg>
    <p:spTree>
      <p:nvGrpSpPr>
        <p:cNvPr id="1" name=""/>
        <p:cNvGrpSpPr/>
        <p:nvPr/>
      </p:nvGrpSpPr>
      <p:grpSpPr>
        <a:xfrm xmlns:a="http://schemas.openxmlformats.org/drawingml/2006/main"/>
      </p:grpSpPr>
      <p:sp>
        <p:nvSpPr>
          <p:cNvPr id="20" name="page-number">
            <a:extLst xmlns:a="http://schemas.openxmlformats.org/drawingml/2006/main">
              <a:ext uri="{FF2B5EF4-FFF2-40B4-BE49-F238E27FC236}">
                <a16:creationId xmlns:a16="http://schemas.microsoft.com/office/drawing/2014/main" id="{276680AC-5464-40E9-8610-299DF99FFEF8}"/>
              </a:ext>
            </a:extLst>
          </p:cNvPr>
          <p:cNvSpPr>
            <a:spLocks xmlns:a="http://schemas.openxmlformats.org/drawingml/2006/main" noGrp="1"/>
          </p:cNvSpPr>
          <p:nvPr/>
        </p:nvSpPr>
        <p:spPr>
          <a:xfrm xmlns:a="http://schemas.openxmlformats.org/drawingml/2006/main">
            <a:off x="10915650" y="34290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C4DF92"/>
                </a:solidFill>
                <a:latin typeface="Arial"/>
                <a:ea typeface="Arial"/>
                <a:cs typeface="Arial"/>
              </a:defRPr>
            </a:defPPr>
          </a:lstStyle>
          <a:p xmlns:a="http://schemas.openxmlformats.org/drawingml/2006/main">
            <a:pPr algn="r">
              <a:defRPr sz="1350" b="0">
                <a:solidFill>
                  <a:srgbClr val="C4DF92"/>
                </a:solidFill>
                <a:latin typeface="Arial"/>
                <a:ea typeface="Arial"/>
                <a:cs typeface="Arial"/>
              </a:defRPr>
            </a:pPr>
            <a:r>
              <a:rPr sz="1350" b="0">
                <a:solidFill>
                  <a:srgbClr val="C4DF92"/>
                </a:solidFill>
                <a:latin typeface="Arial"/>
                <a:ea typeface="Arial"/>
                <a:cs typeface="Arial"/>
              </a:rPr>
              <a:t>4 / 7</a:t>
            </a:r>
          </a:p>
        </p:txBody>
      </p:sp>
      <p:sp>
        <p:nvSpPr>
          <p:cNvPr id="2" name="slide-title">
            <a:extLst xmlns:a="http://schemas.openxmlformats.org/drawingml/2006/main">
              <a:ext uri="{FF2B5EF4-FFF2-40B4-BE49-F238E27FC236}">
                <a16:creationId xmlns:a16="http://schemas.microsoft.com/office/drawing/2014/main" id="{74C5E78C-620E-466E-87B2-D8635573536C}"/>
              </a:ext>
            </a:extLst>
          </p:cNvPr>
          <p:cNvSpPr>
            <a:spLocks xmlns:a="http://schemas.openxmlformats.org/drawingml/2006/main" noGrp="1"/>
          </p:cNvSpPr>
          <p:nvPr/>
        </p:nvSpPr>
        <p:spPr>
          <a:xfrm xmlns:a="http://schemas.openxmlformats.org/drawingml/2006/main">
            <a:off x="609600" y="685800"/>
            <a:ext cx="1062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7F7F2"/>
                </a:solidFill>
                <a:latin typeface="Arial"/>
                <a:ea typeface="Arial"/>
                <a:cs typeface="Arial"/>
              </a:defRPr>
            </a:defPPr>
          </a:lstStyle>
          <a:p xmlns:a="http://schemas.openxmlformats.org/drawingml/2006/main">
            <a:pPr algn="l">
              <a:defRPr sz="3750" b="1">
                <a:solidFill>
                  <a:srgbClr val="F7F7F2"/>
                </a:solidFill>
                <a:latin typeface="Arial"/>
                <a:ea typeface="Arial"/>
                <a:cs typeface="Arial"/>
              </a:defRPr>
            </a:pPr>
            <a:r>
              <a:rPr sz="3750" b="1">
                <a:solidFill>
                  <a:srgbClr val="F7F7F2"/>
                </a:solidFill>
                <a:latin typeface="Arial"/>
                <a:ea typeface="Arial"/>
                <a:cs typeface="Arial"/>
              </a:rPr>
              <a:t>The conversation starts with a link</a:t>
            </a:r>
          </a:p>
        </p:txBody>
      </p:sp>
      <p:sp>
        <p:nvSpPr>
          <p:cNvPr id="3" name="entry-point">
            <a:extLst xmlns:a="http://schemas.openxmlformats.org/drawingml/2006/main">
              <a:ext uri="{FF2B5EF4-FFF2-40B4-BE49-F238E27FC236}">
                <a16:creationId xmlns:a16="http://schemas.microsoft.com/office/drawing/2014/main" id="{5292C19E-300E-486F-AA7C-B66AF479A64D}"/>
              </a:ext>
            </a:extLst>
          </p:cNvPr>
          <p:cNvSpPr>
            <a:spLocks xmlns:a="http://schemas.openxmlformats.org/drawingml/2006/main" noGrp="1"/>
          </p:cNvSpPr>
          <p:nvPr/>
        </p:nvSpPr>
        <p:spPr>
          <a:xfrm xmlns:a="http://schemas.openxmlformats.org/drawingml/2006/main">
            <a:off x="609600" y="2447925"/>
            <a:ext cx="5086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225" b="1">
                <a:solidFill>
                  <a:srgbClr val="C4DF92"/>
                </a:solidFill>
                <a:latin typeface="Arial"/>
                <a:ea typeface="Arial"/>
                <a:cs typeface="Arial"/>
              </a:defRPr>
            </a:defPPr>
          </a:lstStyle>
          <a:p xmlns:a="http://schemas.openxmlformats.org/drawingml/2006/main">
            <a:pPr algn="l">
              <a:defRPr sz="6225" b="1">
                <a:solidFill>
                  <a:srgbClr val="C4DF92"/>
                </a:solidFill>
                <a:latin typeface="Arial"/>
                <a:ea typeface="Arial"/>
                <a:cs typeface="Arial"/>
              </a:defRPr>
            </a:pPr>
            <a:r>
              <a:rPr sz="6225" b="1">
                <a:solidFill>
                  <a:srgbClr val="C4DF92"/>
                </a:solidFill>
                <a:latin typeface="Arial"/>
                <a:ea typeface="Arial"/>
                <a:cs typeface="Arial"/>
              </a:rPr>
              <a:t>/askagent</a:t>
            </a:r>
          </a:p>
        </p:txBody>
      </p:sp>
      <p:sp>
        <p:nvSpPr>
          <p:cNvPr id="4" name="transport">
            <a:extLst xmlns:a="http://schemas.openxmlformats.org/drawingml/2006/main">
              <a:ext uri="{FF2B5EF4-FFF2-40B4-BE49-F238E27FC236}">
                <a16:creationId xmlns:a16="http://schemas.microsoft.com/office/drawing/2014/main" id="{FF8DF80E-E93B-44BD-9568-E85AD7635C57}"/>
              </a:ext>
            </a:extLst>
          </p:cNvPr>
          <p:cNvSpPr>
            <a:spLocks xmlns:a="http://schemas.openxmlformats.org/drawingml/2006/main" noGrp="1"/>
          </p:cNvSpPr>
          <p:nvPr/>
        </p:nvSpPr>
        <p:spPr>
          <a:xfrm xmlns:a="http://schemas.openxmlformats.org/drawingml/2006/main">
            <a:off x="647700" y="41624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7F7F2"/>
                </a:solidFill>
                <a:latin typeface="Arial"/>
                <a:ea typeface="Arial"/>
                <a:cs typeface="Arial"/>
              </a:defRPr>
            </a:defPPr>
          </a:lstStyle>
          <a:p xmlns:a="http://schemas.openxmlformats.org/drawingml/2006/main">
            <a:pPr algn="l">
              <a:defRPr sz="2175" b="0">
                <a:solidFill>
                  <a:srgbClr val="F7F7F2"/>
                </a:solidFill>
                <a:latin typeface="Arial"/>
                <a:ea typeface="Arial"/>
                <a:cs typeface="Arial"/>
              </a:defRPr>
            </a:pPr>
            <a:r>
              <a:rPr sz="2175" b="0">
                <a:solidFill>
                  <a:srgbClr val="F7F7F2"/>
                </a:solidFill>
                <a:latin typeface="Arial"/>
                <a:ea typeface="Arial"/>
                <a:cs typeface="Arial"/>
              </a:rPr>
              <a:t>Ordinary HTTP.</a:t>
            </a:r>
          </a:p>
          <a:p xmlns:a="http://schemas.openxmlformats.org/drawingml/2006/main">
            <a:pPr algn="l">
              <a:defRPr sz="2175" b="0">
                <a:solidFill>
                  <a:srgbClr val="F7F7F2"/>
                </a:solidFill>
                <a:latin typeface="Arial"/>
                <a:ea typeface="Arial"/>
                <a:cs typeface="Arial"/>
              </a:defRPr>
            </a:pPr>
            <a:r>
              <a:rPr sz="2175" b="0">
                <a:solidFill>
                  <a:srgbClr val="F7F7F2"/>
                </a:solidFill>
                <a:latin typeface="Arial"/>
                <a:ea typeface="Arial"/>
                <a:cs typeface="Arial"/>
              </a:rPr>
              <a:t>No MCP or connector setup.</a:t>
            </a:r>
          </a:p>
        </p:txBody>
      </p:sp>
      <p:sp>
        <p:nvSpPr>
          <p:cNvPr id="5" name="step-number-0">
            <a:extLst xmlns:a="http://schemas.openxmlformats.org/drawingml/2006/main">
              <a:ext uri="{FF2B5EF4-FFF2-40B4-BE49-F238E27FC236}">
                <a16:creationId xmlns:a16="http://schemas.microsoft.com/office/drawing/2014/main" id="{12F29C49-6941-48D2-A951-0011B82D0FAF}"/>
              </a:ext>
            </a:extLst>
          </p:cNvPr>
          <p:cNvSpPr>
            <a:spLocks xmlns:a="http://schemas.openxmlformats.org/drawingml/2006/main" noGrp="1"/>
          </p:cNvSpPr>
          <p:nvPr/>
        </p:nvSpPr>
        <p:spPr>
          <a:xfrm xmlns:a="http://schemas.openxmlformats.org/drawingml/2006/main">
            <a:off x="6296025" y="20764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4DF92"/>
                </a:solidFill>
                <a:latin typeface="Arial"/>
                <a:ea typeface="Arial"/>
                <a:cs typeface="Arial"/>
              </a:defRPr>
            </a:defPPr>
          </a:lstStyle>
          <a:p xmlns:a="http://schemas.openxmlformats.org/drawingml/2006/main">
            <a:pPr algn="l">
              <a:defRPr sz="1650" b="1">
                <a:solidFill>
                  <a:srgbClr val="C4DF92"/>
                </a:solidFill>
                <a:latin typeface="Arial"/>
                <a:ea typeface="Arial"/>
                <a:cs typeface="Arial"/>
              </a:defRPr>
            </a:pPr>
            <a:r>
              <a:rPr sz="1650" b="1">
                <a:solidFill>
                  <a:srgbClr val="C4DF92"/>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8DAFE5F1-1600-48E1-A007-E1F05D477AE5}"/>
              </a:ext>
            </a:extLst>
          </p:cNvPr>
          <p:cNvSpPr>
            <a:spLocks xmlns:a="http://schemas.openxmlformats.org/drawingml/2006/main" noGrp="1"/>
          </p:cNvSpPr>
          <p:nvPr/>
        </p:nvSpPr>
        <p:spPr>
          <a:xfrm xmlns:a="http://schemas.openxmlformats.org/drawingml/2006/main">
            <a:off x="6943725" y="2057400"/>
            <a:ext cx="4552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7F2"/>
                </a:solidFill>
                <a:latin typeface="Arial"/>
                <a:ea typeface="Arial"/>
                <a:cs typeface="Arial"/>
              </a:defRPr>
            </a:defPPr>
          </a:lstStyle>
          <a:p xmlns:a="http://schemas.openxmlformats.org/drawingml/2006/main">
            <a:pPr algn="l">
              <a:defRPr sz="2325" b="1">
                <a:solidFill>
                  <a:srgbClr val="F7F7F2"/>
                </a:solidFill>
                <a:latin typeface="Arial"/>
                <a:ea typeface="Arial"/>
                <a:cs typeface="Arial"/>
              </a:defRPr>
            </a:pPr>
            <a:r>
              <a:rPr sz="2325" b="1">
                <a:solidFill>
                  <a:srgbClr val="F7F7F2"/>
                </a:solidFill>
                <a:latin typeface="Arial"/>
                <a:ea typeface="Arial"/>
                <a:cs typeface="Arial"/>
              </a:rPr>
              <a:t>Discover</a:t>
            </a:r>
          </a:p>
        </p:txBody>
      </p:sp>
      <p:sp>
        <p:nvSpPr>
          <p:cNvPr id="7" name="step-description-0">
            <a:extLst xmlns:a="http://schemas.openxmlformats.org/drawingml/2006/main">
              <a:ext uri="{FF2B5EF4-FFF2-40B4-BE49-F238E27FC236}">
                <a16:creationId xmlns:a16="http://schemas.microsoft.com/office/drawing/2014/main" id="{8FADCEA8-10EE-4657-A264-50684EC5502B}"/>
              </a:ext>
            </a:extLst>
          </p:cNvPr>
          <p:cNvSpPr>
            <a:spLocks xmlns:a="http://schemas.openxmlformats.org/drawingml/2006/main" noGrp="1"/>
          </p:cNvSpPr>
          <p:nvPr/>
        </p:nvSpPr>
        <p:spPr>
          <a:xfrm xmlns:a="http://schemas.openxmlformats.org/drawingml/2006/main">
            <a:off x="6943725" y="247650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7F7F2"/>
                </a:solidFill>
                <a:latin typeface="Arial"/>
                <a:ea typeface="Arial"/>
                <a:cs typeface="Arial"/>
              </a:defRPr>
            </a:defPPr>
          </a:lstStyle>
          <a:p xmlns:a="http://schemas.openxmlformats.org/drawingml/2006/main">
            <a:pPr algn="l">
              <a:defRPr sz="1875" b="0">
                <a:solidFill>
                  <a:srgbClr val="F7F7F2"/>
                </a:solidFill>
                <a:latin typeface="Arial"/>
                <a:ea typeface="Arial"/>
                <a:cs typeface="Arial"/>
              </a:defRPr>
            </a:pPr>
            <a:r>
              <a:rPr sz="1875" b="0">
                <a:solidFill>
                  <a:srgbClr val="F7F7F2"/>
                </a:solidFill>
                <a:latin typeface="Arial"/>
                <a:ea typeface="Arial"/>
                <a:cs typeface="Arial"/>
              </a:rPr>
              <a:t>The site describes its capabilities.</a:t>
            </a:r>
          </a:p>
        </p:txBody>
      </p:sp>
      <p:sp>
        <p:nvSpPr>
          <p:cNvPr id="8" name="step-rule-0">
            <a:extLst xmlns:a="http://schemas.openxmlformats.org/drawingml/2006/main">
              <a:ext uri="{FF2B5EF4-FFF2-40B4-BE49-F238E27FC236}">
                <a16:creationId xmlns:a16="http://schemas.microsoft.com/office/drawing/2014/main" id="{242A861F-5CD4-4D20-ABAB-06D0EFE40447}"/>
              </a:ext>
            </a:extLst>
          </p:cNvPr>
          <p:cNvSpPr>
            <a:spLocks xmlns:a="http://schemas.openxmlformats.org/drawingml/2006/main" noGrp="1"/>
          </p:cNvSpPr>
          <p:nvPr/>
        </p:nvSpPr>
        <p:spPr>
          <a:xfrm xmlns:a="http://schemas.openxmlformats.org/drawingml/2006/main">
            <a:off x="6943725" y="2962275"/>
            <a:ext cx="4552950" cy="0"/>
          </a:xfrm>
          <a:prstGeom xmlns:a="http://schemas.openxmlformats.org/drawingml/2006/main" prst="line">
            <a:avLst/>
          </a:prstGeom>
          <a:noFill xmlns:a="http://schemas.openxmlformats.org/drawingml/2006/main"/>
          <a:ln xmlns:a="http://schemas.openxmlformats.org/drawingml/2006/main" w="9525">
            <a:solidFill>
              <a:srgbClr val="4B5047"/>
            </a:solidFill>
            <a:prstDash val="solid"/>
          </a:ln>
        </p:spPr>
      </p:sp>
      <p:sp>
        <p:nvSpPr>
          <p:cNvPr id="9" name="step-number-1">
            <a:extLst xmlns:a="http://schemas.openxmlformats.org/drawingml/2006/main">
              <a:ext uri="{FF2B5EF4-FFF2-40B4-BE49-F238E27FC236}">
                <a16:creationId xmlns:a16="http://schemas.microsoft.com/office/drawing/2014/main" id="{16BED384-423B-4395-9561-90D2BC0BA482}"/>
              </a:ext>
            </a:extLst>
          </p:cNvPr>
          <p:cNvSpPr>
            <a:spLocks xmlns:a="http://schemas.openxmlformats.org/drawingml/2006/main" noGrp="1"/>
          </p:cNvSpPr>
          <p:nvPr/>
        </p:nvSpPr>
        <p:spPr>
          <a:xfrm xmlns:a="http://schemas.openxmlformats.org/drawingml/2006/main">
            <a:off x="6296025" y="3076575"/>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4DF92"/>
                </a:solidFill>
                <a:latin typeface="Arial"/>
                <a:ea typeface="Arial"/>
                <a:cs typeface="Arial"/>
              </a:defRPr>
            </a:defPPr>
          </a:lstStyle>
          <a:p xmlns:a="http://schemas.openxmlformats.org/drawingml/2006/main">
            <a:pPr algn="l">
              <a:defRPr sz="1650" b="1">
                <a:solidFill>
                  <a:srgbClr val="C4DF92"/>
                </a:solidFill>
                <a:latin typeface="Arial"/>
                <a:ea typeface="Arial"/>
                <a:cs typeface="Arial"/>
              </a:defRPr>
            </a:pPr>
            <a:r>
              <a:rPr sz="1650" b="1">
                <a:solidFill>
                  <a:srgbClr val="C4DF92"/>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D76D53FB-7F5B-4EF5-8849-21988A1D231C}"/>
              </a:ext>
            </a:extLst>
          </p:cNvPr>
          <p:cNvSpPr>
            <a:spLocks xmlns:a="http://schemas.openxmlformats.org/drawingml/2006/main" noGrp="1"/>
          </p:cNvSpPr>
          <p:nvPr/>
        </p:nvSpPr>
        <p:spPr>
          <a:xfrm xmlns:a="http://schemas.openxmlformats.org/drawingml/2006/main">
            <a:off x="6943725" y="3057525"/>
            <a:ext cx="4552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7F2"/>
                </a:solidFill>
                <a:latin typeface="Arial"/>
                <a:ea typeface="Arial"/>
                <a:cs typeface="Arial"/>
              </a:defRPr>
            </a:defPPr>
          </a:lstStyle>
          <a:p xmlns:a="http://schemas.openxmlformats.org/drawingml/2006/main">
            <a:pPr algn="l">
              <a:defRPr sz="2325" b="1">
                <a:solidFill>
                  <a:srgbClr val="F7F7F2"/>
                </a:solidFill>
                <a:latin typeface="Arial"/>
                <a:ea typeface="Arial"/>
                <a:cs typeface="Arial"/>
              </a:defRPr>
            </a:pPr>
            <a:r>
              <a:rPr sz="2325" b="1">
                <a:solidFill>
                  <a:srgbClr val="F7F7F2"/>
                </a:solidFill>
                <a:latin typeface="Arial"/>
                <a:ea typeface="Arial"/>
                <a:cs typeface="Arial"/>
              </a:rPr>
              <a:t>Ask</a:t>
            </a:r>
          </a:p>
        </p:txBody>
      </p:sp>
      <p:sp>
        <p:nvSpPr>
          <p:cNvPr id="11" name="step-description-1">
            <a:extLst xmlns:a="http://schemas.openxmlformats.org/drawingml/2006/main">
              <a:ext uri="{FF2B5EF4-FFF2-40B4-BE49-F238E27FC236}">
                <a16:creationId xmlns:a16="http://schemas.microsoft.com/office/drawing/2014/main" id="{80DDFFF5-5242-42C8-941F-FCBA05CE4C7A}"/>
              </a:ext>
            </a:extLst>
          </p:cNvPr>
          <p:cNvSpPr>
            <a:spLocks xmlns:a="http://schemas.openxmlformats.org/drawingml/2006/main" noGrp="1"/>
          </p:cNvSpPr>
          <p:nvPr/>
        </p:nvSpPr>
        <p:spPr>
          <a:xfrm xmlns:a="http://schemas.openxmlformats.org/drawingml/2006/main">
            <a:off x="6943725" y="3476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7F7F2"/>
                </a:solidFill>
                <a:latin typeface="Arial"/>
                <a:ea typeface="Arial"/>
                <a:cs typeface="Arial"/>
              </a:defRPr>
            </a:defPPr>
          </a:lstStyle>
          <a:p xmlns:a="http://schemas.openxmlformats.org/drawingml/2006/main">
            <a:pPr algn="l">
              <a:defRPr sz="1875" b="0">
                <a:solidFill>
                  <a:srgbClr val="F7F7F2"/>
                </a:solidFill>
                <a:latin typeface="Arial"/>
                <a:ea typeface="Arial"/>
                <a:cs typeface="Arial"/>
              </a:defRPr>
            </a:pPr>
            <a:r>
              <a:rPr sz="1875" b="0">
                <a:solidFill>
                  <a:srgbClr val="F7F7F2"/>
                </a:solidFill>
                <a:latin typeface="Arial"/>
                <a:ea typeface="Arial"/>
                <a:cs typeface="Arial"/>
              </a:rPr>
              <a:t>A question reaches the site’s own agent.</a:t>
            </a:r>
          </a:p>
        </p:txBody>
      </p:sp>
      <p:sp>
        <p:nvSpPr>
          <p:cNvPr id="12" name="step-rule-1">
            <a:extLst xmlns:a="http://schemas.openxmlformats.org/drawingml/2006/main">
              <a:ext uri="{FF2B5EF4-FFF2-40B4-BE49-F238E27FC236}">
                <a16:creationId xmlns:a16="http://schemas.microsoft.com/office/drawing/2014/main" id="{0B9BAE08-B6F0-4DA6-947D-C2E3D46B611E}"/>
              </a:ext>
            </a:extLst>
          </p:cNvPr>
          <p:cNvSpPr>
            <a:spLocks xmlns:a="http://schemas.openxmlformats.org/drawingml/2006/main" noGrp="1"/>
          </p:cNvSpPr>
          <p:nvPr/>
        </p:nvSpPr>
        <p:spPr>
          <a:xfrm xmlns:a="http://schemas.openxmlformats.org/drawingml/2006/main">
            <a:off x="6943725" y="3962400"/>
            <a:ext cx="4552950" cy="0"/>
          </a:xfrm>
          <a:prstGeom xmlns:a="http://schemas.openxmlformats.org/drawingml/2006/main" prst="line">
            <a:avLst/>
          </a:prstGeom>
          <a:noFill xmlns:a="http://schemas.openxmlformats.org/drawingml/2006/main"/>
          <a:ln xmlns:a="http://schemas.openxmlformats.org/drawingml/2006/main" w="9525">
            <a:solidFill>
              <a:srgbClr val="4B5047"/>
            </a:solidFill>
            <a:prstDash val="solid"/>
          </a:ln>
        </p:spPr>
      </p:sp>
      <p:sp>
        <p:nvSpPr>
          <p:cNvPr id="13" name="step-number-2">
            <a:extLst xmlns:a="http://schemas.openxmlformats.org/drawingml/2006/main">
              <a:ext uri="{FF2B5EF4-FFF2-40B4-BE49-F238E27FC236}">
                <a16:creationId xmlns:a16="http://schemas.microsoft.com/office/drawing/2014/main" id="{3BEF168D-B345-4772-90EF-788C0D3910D0}"/>
              </a:ext>
            </a:extLst>
          </p:cNvPr>
          <p:cNvSpPr>
            <a:spLocks xmlns:a="http://schemas.openxmlformats.org/drawingml/2006/main" noGrp="1"/>
          </p:cNvSpPr>
          <p:nvPr/>
        </p:nvSpPr>
        <p:spPr>
          <a:xfrm xmlns:a="http://schemas.openxmlformats.org/drawingml/2006/main">
            <a:off x="6296025" y="407670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4DF92"/>
                </a:solidFill>
                <a:latin typeface="Arial"/>
                <a:ea typeface="Arial"/>
                <a:cs typeface="Arial"/>
              </a:defRPr>
            </a:defPPr>
          </a:lstStyle>
          <a:p xmlns:a="http://schemas.openxmlformats.org/drawingml/2006/main">
            <a:pPr algn="l">
              <a:defRPr sz="1650" b="1">
                <a:solidFill>
                  <a:srgbClr val="C4DF92"/>
                </a:solidFill>
                <a:latin typeface="Arial"/>
                <a:ea typeface="Arial"/>
                <a:cs typeface="Arial"/>
              </a:defRPr>
            </a:pPr>
            <a:r>
              <a:rPr sz="1650" b="1">
                <a:solidFill>
                  <a:srgbClr val="C4DF92"/>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ECE1A88E-45A4-4F56-B844-13176EA5FCC3}"/>
              </a:ext>
            </a:extLst>
          </p:cNvPr>
          <p:cNvSpPr>
            <a:spLocks xmlns:a="http://schemas.openxmlformats.org/drawingml/2006/main" noGrp="1"/>
          </p:cNvSpPr>
          <p:nvPr/>
        </p:nvSpPr>
        <p:spPr>
          <a:xfrm xmlns:a="http://schemas.openxmlformats.org/drawingml/2006/main">
            <a:off x="6943725" y="4057650"/>
            <a:ext cx="4552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7F2"/>
                </a:solidFill>
                <a:latin typeface="Arial"/>
                <a:ea typeface="Arial"/>
                <a:cs typeface="Arial"/>
              </a:defRPr>
            </a:defPPr>
          </a:lstStyle>
          <a:p xmlns:a="http://schemas.openxmlformats.org/drawingml/2006/main">
            <a:pPr algn="l">
              <a:defRPr sz="2325" b="1">
                <a:solidFill>
                  <a:srgbClr val="F7F7F2"/>
                </a:solidFill>
                <a:latin typeface="Arial"/>
                <a:ea typeface="Arial"/>
                <a:cs typeface="Arial"/>
              </a:defRPr>
            </a:pPr>
            <a:r>
              <a:rPr sz="2325" b="1">
                <a:solidFill>
                  <a:srgbClr val="F7F7F2"/>
                </a:solidFill>
                <a:latin typeface="Arial"/>
                <a:ea typeface="Arial"/>
                <a:cs typeface="Arial"/>
              </a:rPr>
              <a:t>Continue</a:t>
            </a:r>
          </a:p>
        </p:txBody>
      </p:sp>
      <p:sp>
        <p:nvSpPr>
          <p:cNvPr id="15" name="step-description-2">
            <a:extLst xmlns:a="http://schemas.openxmlformats.org/drawingml/2006/main">
              <a:ext uri="{FF2B5EF4-FFF2-40B4-BE49-F238E27FC236}">
                <a16:creationId xmlns:a16="http://schemas.microsoft.com/office/drawing/2014/main" id="{227B1F05-0044-48C6-BCFB-EC19FA1B0010}"/>
              </a:ext>
            </a:extLst>
          </p:cNvPr>
          <p:cNvSpPr>
            <a:spLocks xmlns:a="http://schemas.openxmlformats.org/drawingml/2006/main" noGrp="1"/>
          </p:cNvSpPr>
          <p:nvPr/>
        </p:nvSpPr>
        <p:spPr>
          <a:xfrm xmlns:a="http://schemas.openxmlformats.org/drawingml/2006/main">
            <a:off x="6943725" y="44767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7F7F2"/>
                </a:solidFill>
                <a:latin typeface="Arial"/>
                <a:ea typeface="Arial"/>
                <a:cs typeface="Arial"/>
              </a:defRPr>
            </a:defPPr>
          </a:lstStyle>
          <a:p xmlns:a="http://schemas.openxmlformats.org/drawingml/2006/main">
            <a:pPr algn="l">
              <a:defRPr sz="1875" b="0">
                <a:solidFill>
                  <a:srgbClr val="F7F7F2"/>
                </a:solidFill>
                <a:latin typeface="Arial"/>
                <a:ea typeface="Arial"/>
                <a:cs typeface="Arial"/>
              </a:defRPr>
            </a:pPr>
            <a:r>
              <a:rPr sz="1875" b="0">
                <a:solidFill>
                  <a:srgbClr val="F7F7F2"/>
                </a:solidFill>
                <a:latin typeface="Arial"/>
                <a:ea typeface="Arial"/>
                <a:cs typeface="Arial"/>
              </a:rPr>
              <a:t>Follow-up links preserve the conversation.</a:t>
            </a:r>
          </a:p>
        </p:txBody>
      </p:sp>
      <p:sp>
        <p:nvSpPr>
          <p:cNvPr id="16" name="step-rule-2">
            <a:extLst xmlns:a="http://schemas.openxmlformats.org/drawingml/2006/main">
              <a:ext uri="{FF2B5EF4-FFF2-40B4-BE49-F238E27FC236}">
                <a16:creationId xmlns:a16="http://schemas.microsoft.com/office/drawing/2014/main" id="{FCDFE383-D48F-49E6-BDA1-96C7DEC513A3}"/>
              </a:ext>
            </a:extLst>
          </p:cNvPr>
          <p:cNvSpPr>
            <a:spLocks xmlns:a="http://schemas.openxmlformats.org/drawingml/2006/main" noGrp="1"/>
          </p:cNvSpPr>
          <p:nvPr/>
        </p:nvSpPr>
        <p:spPr>
          <a:xfrm xmlns:a="http://schemas.openxmlformats.org/drawingml/2006/main">
            <a:off x="6943725" y="4962525"/>
            <a:ext cx="4552950" cy="0"/>
          </a:xfrm>
          <a:prstGeom xmlns:a="http://schemas.openxmlformats.org/drawingml/2006/main" prst="line">
            <a:avLst/>
          </a:prstGeom>
          <a:noFill xmlns:a="http://schemas.openxmlformats.org/drawingml/2006/main"/>
          <a:ln xmlns:a="http://schemas.openxmlformats.org/drawingml/2006/main" w="9525">
            <a:solidFill>
              <a:srgbClr val="4B5047"/>
            </a:solidFill>
            <a:prstDash val="solid"/>
          </a:ln>
        </p:spPr>
      </p:sp>
      <p:sp>
        <p:nvSpPr>
          <p:cNvPr id="17" name="step-number-3">
            <a:extLst xmlns:a="http://schemas.openxmlformats.org/drawingml/2006/main">
              <a:ext uri="{FF2B5EF4-FFF2-40B4-BE49-F238E27FC236}">
                <a16:creationId xmlns:a16="http://schemas.microsoft.com/office/drawing/2014/main" id="{E30B02B5-D146-4874-BC60-4E59994BADF8}"/>
              </a:ext>
            </a:extLst>
          </p:cNvPr>
          <p:cNvSpPr>
            <a:spLocks xmlns:a="http://schemas.openxmlformats.org/drawingml/2006/main" noGrp="1"/>
          </p:cNvSpPr>
          <p:nvPr/>
        </p:nvSpPr>
        <p:spPr>
          <a:xfrm xmlns:a="http://schemas.openxmlformats.org/drawingml/2006/main">
            <a:off x="6296025" y="5076825"/>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4DF92"/>
                </a:solidFill>
                <a:latin typeface="Arial"/>
                <a:ea typeface="Arial"/>
                <a:cs typeface="Arial"/>
              </a:defRPr>
            </a:defPPr>
          </a:lstStyle>
          <a:p xmlns:a="http://schemas.openxmlformats.org/drawingml/2006/main">
            <a:pPr algn="l">
              <a:defRPr sz="1650" b="1">
                <a:solidFill>
                  <a:srgbClr val="C4DF92"/>
                </a:solidFill>
                <a:latin typeface="Arial"/>
                <a:ea typeface="Arial"/>
                <a:cs typeface="Arial"/>
              </a:defRPr>
            </a:pPr>
            <a:r>
              <a:rPr sz="1650" b="1">
                <a:solidFill>
                  <a:srgbClr val="C4DF92"/>
                </a:solidFill>
                <a:latin typeface="Arial"/>
                <a:ea typeface="Arial"/>
                <a:cs typeface="Arial"/>
              </a:rPr>
              <a:t>04</a:t>
            </a:r>
          </a:p>
        </p:txBody>
      </p:sp>
      <p:sp>
        <p:nvSpPr>
          <p:cNvPr id="18" name="step-title-3">
            <a:extLst xmlns:a="http://schemas.openxmlformats.org/drawingml/2006/main">
              <a:ext uri="{FF2B5EF4-FFF2-40B4-BE49-F238E27FC236}">
                <a16:creationId xmlns:a16="http://schemas.microsoft.com/office/drawing/2014/main" id="{419BD2A8-10A4-4533-8820-B229AE3B8802}"/>
              </a:ext>
            </a:extLst>
          </p:cNvPr>
          <p:cNvSpPr>
            <a:spLocks xmlns:a="http://schemas.openxmlformats.org/drawingml/2006/main" noGrp="1"/>
          </p:cNvSpPr>
          <p:nvPr/>
        </p:nvSpPr>
        <p:spPr>
          <a:xfrm xmlns:a="http://schemas.openxmlformats.org/drawingml/2006/main">
            <a:off x="6943725" y="5057775"/>
            <a:ext cx="4552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7F2"/>
                </a:solidFill>
                <a:latin typeface="Arial"/>
                <a:ea typeface="Arial"/>
                <a:cs typeface="Arial"/>
              </a:defRPr>
            </a:defPPr>
          </a:lstStyle>
          <a:p xmlns:a="http://schemas.openxmlformats.org/drawingml/2006/main">
            <a:pPr algn="l">
              <a:defRPr sz="2325" b="1">
                <a:solidFill>
                  <a:srgbClr val="F7F7F2"/>
                </a:solidFill>
                <a:latin typeface="Arial"/>
                <a:ea typeface="Arial"/>
                <a:cs typeface="Arial"/>
              </a:defRPr>
            </a:pPr>
            <a:r>
              <a:rPr sz="2325" b="1">
                <a:solidFill>
                  <a:srgbClr val="F7F7F2"/>
                </a:solidFill>
                <a:latin typeface="Arial"/>
                <a:ea typeface="Arial"/>
                <a:cs typeface="Arial"/>
              </a:rPr>
              <a:t>Handoff</a:t>
            </a:r>
          </a:p>
        </p:txBody>
      </p:sp>
      <p:sp>
        <p:nvSpPr>
          <p:cNvPr id="19" name="step-description-3">
            <a:extLst xmlns:a="http://schemas.openxmlformats.org/drawingml/2006/main">
              <a:ext uri="{FF2B5EF4-FFF2-40B4-BE49-F238E27FC236}">
                <a16:creationId xmlns:a16="http://schemas.microsoft.com/office/drawing/2014/main" id="{8EC44462-B097-49ED-B9A1-058262C91ECC}"/>
              </a:ext>
            </a:extLst>
          </p:cNvPr>
          <p:cNvSpPr>
            <a:spLocks xmlns:a="http://schemas.openxmlformats.org/drawingml/2006/main" noGrp="1"/>
          </p:cNvSpPr>
          <p:nvPr/>
        </p:nvSpPr>
        <p:spPr>
          <a:xfrm xmlns:a="http://schemas.openxmlformats.org/drawingml/2006/main">
            <a:off x="6943725" y="547687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7F7F2"/>
                </a:solidFill>
                <a:latin typeface="Arial"/>
                <a:ea typeface="Arial"/>
                <a:cs typeface="Arial"/>
              </a:defRPr>
            </a:defPPr>
          </a:lstStyle>
          <a:p xmlns:a="http://schemas.openxmlformats.org/drawingml/2006/main">
            <a:pPr algn="l">
              <a:defRPr sz="1875" b="0">
                <a:solidFill>
                  <a:srgbClr val="F7F7F2"/>
                </a:solidFill>
                <a:latin typeface="Arial"/>
                <a:ea typeface="Arial"/>
                <a:cs typeface="Arial"/>
              </a:defRPr>
            </a:pPr>
            <a:r>
              <a:rPr sz="1875" b="0">
                <a:solidFill>
                  <a:srgbClr val="F7F7F2"/>
                </a:solidFill>
                <a:latin typeface="Arial"/>
                <a:ea typeface="Arial"/>
                <a:cs typeface="Arial"/>
              </a:rPr>
              <a:t>The site returns a link into its workflow.</a:t>
            </a:r>
          </a:p>
        </p:txBody>
      </p:sp>
    </p:spTree>
    <p:extLst>
      <p:ext uri="{BB962C8B-B14F-4D97-AF65-F5344CB8AC3E}">
        <p14:creationId xmlns:p14="http://schemas.microsoft.com/office/powerpoint/2010/main" val="1065219622"/>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7" name="page-number">
            <a:extLst xmlns:a="http://schemas.openxmlformats.org/drawingml/2006/main">
              <a:ext uri="{FF2B5EF4-FFF2-40B4-BE49-F238E27FC236}">
                <a16:creationId xmlns:a16="http://schemas.microsoft.com/office/drawing/2014/main" id="{83D67E3B-78E3-4292-9A1F-7806FA214709}"/>
              </a:ext>
            </a:extLst>
          </p:cNvPr>
          <p:cNvSpPr>
            <a:spLocks xmlns:a="http://schemas.openxmlformats.org/drawingml/2006/main" noGrp="1"/>
          </p:cNvSpPr>
          <p:nvPr/>
        </p:nvSpPr>
        <p:spPr>
          <a:xfrm xmlns:a="http://schemas.openxmlformats.org/drawingml/2006/main">
            <a:off x="10915650" y="34290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C6F69"/>
                </a:solidFill>
                <a:latin typeface="Arial"/>
                <a:ea typeface="Arial"/>
                <a:cs typeface="Arial"/>
              </a:defRPr>
            </a:defPPr>
          </a:lstStyle>
          <a:p xmlns:a="http://schemas.openxmlformats.org/drawingml/2006/main">
            <a:pPr algn="r">
              <a:defRPr sz="1350" b="0">
                <a:solidFill>
                  <a:srgbClr val="6C6F69"/>
                </a:solidFill>
                <a:latin typeface="Arial"/>
                <a:ea typeface="Arial"/>
                <a:cs typeface="Arial"/>
              </a:defRPr>
            </a:pPr>
            <a:r>
              <a:rPr sz="1350" b="0">
                <a:solidFill>
                  <a:srgbClr val="6C6F69"/>
                </a:solidFill>
                <a:latin typeface="Arial"/>
                <a:ea typeface="Arial"/>
                <a:cs typeface="Arial"/>
              </a:rPr>
              <a:t>5 / 7</a:t>
            </a:r>
          </a:p>
        </p:txBody>
      </p:sp>
      <p:sp>
        <p:nvSpPr>
          <p:cNvPr id="2" name="slide-title">
            <a:extLst xmlns:a="http://schemas.openxmlformats.org/drawingml/2006/main">
              <a:ext uri="{FF2B5EF4-FFF2-40B4-BE49-F238E27FC236}">
                <a16:creationId xmlns:a16="http://schemas.microsoft.com/office/drawing/2014/main" id="{4D741B69-B0D1-498D-A91A-FA9AD35822ED}"/>
              </a:ext>
            </a:extLst>
          </p:cNvPr>
          <p:cNvSpPr>
            <a:spLocks xmlns:a="http://schemas.openxmlformats.org/drawingml/2006/main" noGrp="1"/>
          </p:cNvSpPr>
          <p:nvPr/>
        </p:nvSpPr>
        <p:spPr>
          <a:xfrm xmlns:a="http://schemas.openxmlformats.org/drawingml/2006/main">
            <a:off x="609600" y="685800"/>
            <a:ext cx="1062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0231E"/>
                </a:solidFill>
                <a:latin typeface="Arial"/>
                <a:ea typeface="Arial"/>
                <a:cs typeface="Arial"/>
              </a:defRPr>
            </a:defPPr>
          </a:lstStyle>
          <a:p xmlns:a="http://schemas.openxmlformats.org/drawingml/2006/main">
            <a:pPr algn="l">
              <a:defRPr sz="3900" b="1">
                <a:solidFill>
                  <a:srgbClr val="20231E"/>
                </a:solidFill>
                <a:latin typeface="Arial"/>
                <a:ea typeface="Arial"/>
                <a:cs typeface="Arial"/>
              </a:defRPr>
            </a:pPr>
            <a:r>
              <a:rPr sz="3900" b="1">
                <a:solidFill>
                  <a:srgbClr val="20231E"/>
                </a:solidFill>
                <a:latin typeface="Arial"/>
                <a:ea typeface="Arial"/>
                <a:cs typeface="Arial"/>
              </a:rPr>
              <a:t>The answer carries the next step</a:t>
            </a:r>
          </a:p>
        </p:txBody>
      </p:sp>
      <p:sp>
        <p:nvSpPr>
          <p:cNvPr id="3" name="response-summary">
            <a:extLst xmlns:a="http://schemas.openxmlformats.org/drawingml/2006/main">
              <a:ext uri="{FF2B5EF4-FFF2-40B4-BE49-F238E27FC236}">
                <a16:creationId xmlns:a16="http://schemas.microsoft.com/office/drawing/2014/main" id="{0996CF60-2B6F-43D9-899D-C39DF8D0F308}"/>
              </a:ext>
            </a:extLst>
          </p:cNvPr>
          <p:cNvSpPr>
            <a:spLocks xmlns:a="http://schemas.openxmlformats.org/drawingml/2006/main" noGrp="1"/>
          </p:cNvSpPr>
          <p:nvPr/>
        </p:nvSpPr>
        <p:spPr>
          <a:xfrm xmlns:a="http://schemas.openxmlformats.org/drawingml/2006/main">
            <a:off x="609600" y="1714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C6F69"/>
                </a:solidFill>
                <a:latin typeface="Arial"/>
                <a:ea typeface="Arial"/>
                <a:cs typeface="Arial"/>
              </a:defRPr>
            </a:defPPr>
          </a:lstStyle>
          <a:p xmlns:a="http://schemas.openxmlformats.org/drawingml/2006/main">
            <a:pPr algn="l">
              <a:defRPr sz="2100" b="0">
                <a:solidFill>
                  <a:srgbClr val="6C6F69"/>
                </a:solidFill>
                <a:latin typeface="Arial"/>
                <a:ea typeface="Arial"/>
                <a:cs typeface="Arial"/>
              </a:defRPr>
            </a:pPr>
            <a:r>
              <a:rPr sz="2100" b="0">
                <a:solidFill>
                  <a:srgbClr val="6C6F69"/>
                </a:solidFill>
                <a:latin typeface="Arial"/>
                <a:ea typeface="Arial"/>
                <a:cs typeface="Arial"/>
              </a:rPr>
              <a:t>The website returns enough context to continue the task.</a:t>
            </a:r>
          </a:p>
        </p:txBody>
      </p:sp>
      <p:sp>
        <p:nvSpPr>
          <p:cNvPr id="4" name="response-label-0">
            <a:extLst xmlns:a="http://schemas.openxmlformats.org/drawingml/2006/main">
              <a:ext uri="{FF2B5EF4-FFF2-40B4-BE49-F238E27FC236}">
                <a16:creationId xmlns:a16="http://schemas.microsoft.com/office/drawing/2014/main" id="{9541A2BF-94F5-4FE9-97BA-7681B312F7FB}"/>
              </a:ext>
            </a:extLst>
          </p:cNvPr>
          <p:cNvSpPr>
            <a:spLocks xmlns:a="http://schemas.openxmlformats.org/drawingml/2006/main" noGrp="1"/>
          </p:cNvSpPr>
          <p:nvPr/>
        </p:nvSpPr>
        <p:spPr>
          <a:xfrm xmlns:a="http://schemas.openxmlformats.org/drawingml/2006/main">
            <a:off x="609600" y="2609850"/>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04C3C"/>
                </a:solidFill>
                <a:latin typeface="Arial"/>
                <a:ea typeface="Arial"/>
                <a:cs typeface="Arial"/>
              </a:defRPr>
            </a:defPPr>
          </a:lstStyle>
          <a:p xmlns:a="http://schemas.openxmlformats.org/drawingml/2006/main">
            <a:pPr algn="l">
              <a:defRPr sz="2325" b="1">
                <a:solidFill>
                  <a:srgbClr val="304C3C"/>
                </a:solidFill>
                <a:latin typeface="Arial"/>
                <a:ea typeface="Arial"/>
                <a:cs typeface="Arial"/>
              </a:defRPr>
            </a:pPr>
            <a:r>
              <a:rPr sz="2325" b="1">
                <a:solidFill>
                  <a:srgbClr val="304C3C"/>
                </a:solidFill>
                <a:latin typeface="Arial"/>
                <a:ea typeface="Arial"/>
                <a:cs typeface="Arial"/>
              </a:rPr>
              <a:t>Answer</a:t>
            </a:r>
          </a:p>
        </p:txBody>
      </p:sp>
      <p:sp>
        <p:nvSpPr>
          <p:cNvPr id="5" name="response-value-0">
            <a:extLst xmlns:a="http://schemas.openxmlformats.org/drawingml/2006/main">
              <a:ext uri="{FF2B5EF4-FFF2-40B4-BE49-F238E27FC236}">
                <a16:creationId xmlns:a16="http://schemas.microsoft.com/office/drawing/2014/main" id="{6E92441B-E64B-44C8-A6A0-6B0E94E1AD5A}"/>
              </a:ext>
            </a:extLst>
          </p:cNvPr>
          <p:cNvSpPr>
            <a:spLocks xmlns:a="http://schemas.openxmlformats.org/drawingml/2006/main" noGrp="1"/>
          </p:cNvSpPr>
          <p:nvPr/>
        </p:nvSpPr>
        <p:spPr>
          <a:xfrm xmlns:a="http://schemas.openxmlformats.org/drawingml/2006/main">
            <a:off x="3581400" y="2619375"/>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31E"/>
                </a:solidFill>
                <a:latin typeface="Arial"/>
                <a:ea typeface="Arial"/>
                <a:cs typeface="Arial"/>
              </a:defRPr>
            </a:defPPr>
          </a:lstStyle>
          <a:p xmlns:a="http://schemas.openxmlformats.org/drawingml/2006/main">
            <a:pPr algn="l">
              <a:defRPr sz="2100" b="0">
                <a:solidFill>
                  <a:srgbClr val="20231E"/>
                </a:solidFill>
                <a:latin typeface="Arial"/>
                <a:ea typeface="Arial"/>
                <a:cs typeface="Arial"/>
              </a:defRPr>
            </a:pPr>
            <a:r>
              <a:rPr sz="2100" b="0">
                <a:solidFill>
                  <a:srgbClr val="20231E"/>
                </a:solidFill>
                <a:latin typeface="Arial"/>
                <a:ea typeface="Arial"/>
                <a:cs typeface="Arial"/>
              </a:rPr>
              <a:t>What the site can fulfil under the user’s constraints.</a:t>
            </a:r>
          </a:p>
        </p:txBody>
      </p:sp>
      <p:sp>
        <p:nvSpPr>
          <p:cNvPr id="6" name="response-rule-0">
            <a:extLst xmlns:a="http://schemas.openxmlformats.org/drawingml/2006/main">
              <a:ext uri="{FF2B5EF4-FFF2-40B4-BE49-F238E27FC236}">
                <a16:creationId xmlns:a16="http://schemas.microsoft.com/office/drawing/2014/main" id="{54D9F94C-EBCA-47FA-8391-FD3548687057}"/>
              </a:ext>
            </a:extLst>
          </p:cNvPr>
          <p:cNvSpPr>
            <a:spLocks xmlns:a="http://schemas.openxmlformats.org/drawingml/2006/main" noGrp="1"/>
          </p:cNvSpPr>
          <p:nvPr/>
        </p:nvSpPr>
        <p:spPr>
          <a:xfrm xmlns:a="http://schemas.openxmlformats.org/drawingml/2006/main">
            <a:off x="609600" y="3228975"/>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7" name="response-label-1">
            <a:extLst xmlns:a="http://schemas.openxmlformats.org/drawingml/2006/main">
              <a:ext uri="{FF2B5EF4-FFF2-40B4-BE49-F238E27FC236}">
                <a16:creationId xmlns:a16="http://schemas.microsoft.com/office/drawing/2014/main" id="{BD1F73D1-1E8A-48CB-886E-DB1173587FCA}"/>
              </a:ext>
            </a:extLst>
          </p:cNvPr>
          <p:cNvSpPr>
            <a:spLocks xmlns:a="http://schemas.openxmlformats.org/drawingml/2006/main" noGrp="1"/>
          </p:cNvSpPr>
          <p:nvPr/>
        </p:nvSpPr>
        <p:spPr>
          <a:xfrm xmlns:a="http://schemas.openxmlformats.org/drawingml/2006/main">
            <a:off x="609600" y="3390900"/>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04C3C"/>
                </a:solidFill>
                <a:latin typeface="Arial"/>
                <a:ea typeface="Arial"/>
                <a:cs typeface="Arial"/>
              </a:defRPr>
            </a:defPPr>
          </a:lstStyle>
          <a:p xmlns:a="http://schemas.openxmlformats.org/drawingml/2006/main">
            <a:pPr algn="l">
              <a:defRPr sz="2325" b="1">
                <a:solidFill>
                  <a:srgbClr val="304C3C"/>
                </a:solidFill>
                <a:latin typeface="Arial"/>
                <a:ea typeface="Arial"/>
                <a:cs typeface="Arial"/>
              </a:defRPr>
            </a:pPr>
            <a:r>
              <a:rPr sz="2325" b="1">
                <a:solidFill>
                  <a:srgbClr val="304C3C"/>
                </a:solidFill>
                <a:latin typeface="Arial"/>
                <a:ea typeface="Arial"/>
                <a:cs typeface="Arial"/>
              </a:rPr>
              <a:t>Evidence</a:t>
            </a:r>
          </a:p>
        </p:txBody>
      </p:sp>
      <p:sp>
        <p:nvSpPr>
          <p:cNvPr id="8" name="response-value-1">
            <a:extLst xmlns:a="http://schemas.openxmlformats.org/drawingml/2006/main">
              <a:ext uri="{FF2B5EF4-FFF2-40B4-BE49-F238E27FC236}">
                <a16:creationId xmlns:a16="http://schemas.microsoft.com/office/drawing/2014/main" id="{573005E8-CBC6-4DA1-A10A-A7EC46342F59}"/>
              </a:ext>
            </a:extLst>
          </p:cNvPr>
          <p:cNvSpPr>
            <a:spLocks xmlns:a="http://schemas.openxmlformats.org/drawingml/2006/main" noGrp="1"/>
          </p:cNvSpPr>
          <p:nvPr/>
        </p:nvSpPr>
        <p:spPr>
          <a:xfrm xmlns:a="http://schemas.openxmlformats.org/drawingml/2006/main">
            <a:off x="3581400" y="3400425"/>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31E"/>
                </a:solidFill>
                <a:latin typeface="Arial"/>
                <a:ea typeface="Arial"/>
                <a:cs typeface="Arial"/>
              </a:defRPr>
            </a:defPPr>
          </a:lstStyle>
          <a:p xmlns:a="http://schemas.openxmlformats.org/drawingml/2006/main">
            <a:pPr algn="l">
              <a:defRPr sz="2100" b="0">
                <a:solidFill>
                  <a:srgbClr val="20231E"/>
                </a:solidFill>
                <a:latin typeface="Arial"/>
                <a:ea typeface="Arial"/>
                <a:cs typeface="Arial"/>
              </a:defRPr>
            </a:pPr>
            <a:r>
              <a:rPr sz="2100" b="0">
                <a:solidFill>
                  <a:srgbClr val="20231E"/>
                </a:solidFill>
                <a:latin typeface="Arial"/>
                <a:ea typeface="Arial"/>
                <a:cs typeface="Arial"/>
              </a:rPr>
              <a:t>Source facts and a current quote when relevant.</a:t>
            </a:r>
          </a:p>
        </p:txBody>
      </p:sp>
      <p:sp>
        <p:nvSpPr>
          <p:cNvPr id="9" name="response-rule-1">
            <a:extLst xmlns:a="http://schemas.openxmlformats.org/drawingml/2006/main">
              <a:ext uri="{FF2B5EF4-FFF2-40B4-BE49-F238E27FC236}">
                <a16:creationId xmlns:a16="http://schemas.microsoft.com/office/drawing/2014/main" id="{9A2A94F2-491A-47E6-90B7-64C03FD3E960}"/>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10" name="response-label-2">
            <a:extLst xmlns:a="http://schemas.openxmlformats.org/drawingml/2006/main">
              <a:ext uri="{FF2B5EF4-FFF2-40B4-BE49-F238E27FC236}">
                <a16:creationId xmlns:a16="http://schemas.microsoft.com/office/drawing/2014/main" id="{C4C3ED5C-F869-405C-82E4-96BEB44DD275}"/>
              </a:ext>
            </a:extLst>
          </p:cNvPr>
          <p:cNvSpPr>
            <a:spLocks xmlns:a="http://schemas.openxmlformats.org/drawingml/2006/main" noGrp="1"/>
          </p:cNvSpPr>
          <p:nvPr/>
        </p:nvSpPr>
        <p:spPr>
          <a:xfrm xmlns:a="http://schemas.openxmlformats.org/drawingml/2006/main">
            <a:off x="609600" y="4171950"/>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04C3C"/>
                </a:solidFill>
                <a:latin typeface="Arial"/>
                <a:ea typeface="Arial"/>
                <a:cs typeface="Arial"/>
              </a:defRPr>
            </a:defPPr>
          </a:lstStyle>
          <a:p xmlns:a="http://schemas.openxmlformats.org/drawingml/2006/main">
            <a:pPr algn="l">
              <a:defRPr sz="2325" b="1">
                <a:solidFill>
                  <a:srgbClr val="304C3C"/>
                </a:solidFill>
                <a:latin typeface="Arial"/>
                <a:ea typeface="Arial"/>
                <a:cs typeface="Arial"/>
              </a:defRPr>
            </a:pPr>
            <a:r>
              <a:rPr sz="2325" b="1">
                <a:solidFill>
                  <a:srgbClr val="304C3C"/>
                </a:solidFill>
                <a:latin typeface="Arial"/>
                <a:ea typeface="Arial"/>
                <a:cs typeface="Arial"/>
              </a:rPr>
              <a:t>Next links</a:t>
            </a:r>
          </a:p>
        </p:txBody>
      </p:sp>
      <p:sp>
        <p:nvSpPr>
          <p:cNvPr id="11" name="response-value-2">
            <a:extLst xmlns:a="http://schemas.openxmlformats.org/drawingml/2006/main">
              <a:ext uri="{FF2B5EF4-FFF2-40B4-BE49-F238E27FC236}">
                <a16:creationId xmlns:a16="http://schemas.microsoft.com/office/drawing/2014/main" id="{84DA0E61-99E8-4292-A8E0-48DEE8BA2B9F}"/>
              </a:ext>
            </a:extLst>
          </p:cNvPr>
          <p:cNvSpPr>
            <a:spLocks xmlns:a="http://schemas.openxmlformats.org/drawingml/2006/main" noGrp="1"/>
          </p:cNvSpPr>
          <p:nvPr/>
        </p:nvSpPr>
        <p:spPr>
          <a:xfrm xmlns:a="http://schemas.openxmlformats.org/drawingml/2006/main">
            <a:off x="3581400" y="4181475"/>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31E"/>
                </a:solidFill>
                <a:latin typeface="Arial"/>
                <a:ea typeface="Arial"/>
                <a:cs typeface="Arial"/>
              </a:defRPr>
            </a:defPPr>
          </a:lstStyle>
          <a:p xmlns:a="http://schemas.openxmlformats.org/drawingml/2006/main">
            <a:pPr algn="l">
              <a:defRPr sz="2100" b="0">
                <a:solidFill>
                  <a:srgbClr val="20231E"/>
                </a:solidFill>
                <a:latin typeface="Arial"/>
                <a:ea typeface="Arial"/>
                <a:cs typeface="Arial"/>
              </a:defRPr>
            </a:pPr>
            <a:r>
              <a:rPr sz="2100" b="0">
                <a:solidFill>
                  <a:srgbClr val="20231E"/>
                </a:solidFill>
                <a:latin typeface="Arial"/>
                <a:ea typeface="Arial"/>
                <a:cs typeface="Arial"/>
              </a:rPr>
              <a:t>Complete links for follow-up or a supported next action.</a:t>
            </a:r>
          </a:p>
        </p:txBody>
      </p:sp>
      <p:sp>
        <p:nvSpPr>
          <p:cNvPr id="12" name="response-rule-2">
            <a:extLst xmlns:a="http://schemas.openxmlformats.org/drawingml/2006/main">
              <a:ext uri="{FF2B5EF4-FFF2-40B4-BE49-F238E27FC236}">
                <a16:creationId xmlns:a16="http://schemas.microsoft.com/office/drawing/2014/main" id="{2C4B7315-9211-42D9-AF65-F78E1341F4D5}"/>
              </a:ext>
            </a:extLst>
          </p:cNvPr>
          <p:cNvSpPr>
            <a:spLocks xmlns:a="http://schemas.openxmlformats.org/drawingml/2006/main" noGrp="1"/>
          </p:cNvSpPr>
          <p:nvPr/>
        </p:nvSpPr>
        <p:spPr>
          <a:xfrm xmlns:a="http://schemas.openxmlformats.org/drawingml/2006/main">
            <a:off x="609600" y="4791075"/>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13" name="response-label-3">
            <a:extLst xmlns:a="http://schemas.openxmlformats.org/drawingml/2006/main">
              <a:ext uri="{FF2B5EF4-FFF2-40B4-BE49-F238E27FC236}">
                <a16:creationId xmlns:a16="http://schemas.microsoft.com/office/drawing/2014/main" id="{9F41B6EA-A282-40FC-8491-B6E3C341438F}"/>
              </a:ext>
            </a:extLst>
          </p:cNvPr>
          <p:cNvSpPr>
            <a:spLocks xmlns:a="http://schemas.openxmlformats.org/drawingml/2006/main" noGrp="1"/>
          </p:cNvSpPr>
          <p:nvPr/>
        </p:nvSpPr>
        <p:spPr>
          <a:xfrm xmlns:a="http://schemas.openxmlformats.org/drawingml/2006/main">
            <a:off x="609600" y="4953000"/>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04C3C"/>
                </a:solidFill>
                <a:latin typeface="Arial"/>
                <a:ea typeface="Arial"/>
                <a:cs typeface="Arial"/>
              </a:defRPr>
            </a:defPPr>
          </a:lstStyle>
          <a:p xmlns:a="http://schemas.openxmlformats.org/drawingml/2006/main">
            <a:pPr algn="l">
              <a:defRPr sz="2325" b="1">
                <a:solidFill>
                  <a:srgbClr val="304C3C"/>
                </a:solidFill>
                <a:latin typeface="Arial"/>
                <a:ea typeface="Arial"/>
                <a:cs typeface="Arial"/>
              </a:defRPr>
            </a:pPr>
            <a:r>
              <a:rPr sz="2325" b="1">
                <a:solidFill>
                  <a:srgbClr val="304C3C"/>
                </a:solidFill>
                <a:latin typeface="Arial"/>
                <a:ea typeface="Arial"/>
                <a:cs typeface="Arial"/>
              </a:rPr>
              <a:t>Context</a:t>
            </a:r>
          </a:p>
        </p:txBody>
      </p:sp>
      <p:sp>
        <p:nvSpPr>
          <p:cNvPr id="14" name="response-value-3">
            <a:extLst xmlns:a="http://schemas.openxmlformats.org/drawingml/2006/main">
              <a:ext uri="{FF2B5EF4-FFF2-40B4-BE49-F238E27FC236}">
                <a16:creationId xmlns:a16="http://schemas.microsoft.com/office/drawing/2014/main" id="{CF129BBB-E03C-49D1-8343-876020E309FD}"/>
              </a:ext>
            </a:extLst>
          </p:cNvPr>
          <p:cNvSpPr>
            <a:spLocks xmlns:a="http://schemas.openxmlformats.org/drawingml/2006/main" noGrp="1"/>
          </p:cNvSpPr>
          <p:nvPr/>
        </p:nvSpPr>
        <p:spPr>
          <a:xfrm xmlns:a="http://schemas.openxmlformats.org/drawingml/2006/main">
            <a:off x="3581400" y="4962525"/>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31E"/>
                </a:solidFill>
                <a:latin typeface="Arial"/>
                <a:ea typeface="Arial"/>
                <a:cs typeface="Arial"/>
              </a:defRPr>
            </a:defPPr>
          </a:lstStyle>
          <a:p xmlns:a="http://schemas.openxmlformats.org/drawingml/2006/main">
            <a:pPr algn="l">
              <a:defRPr sz="2100" b="0">
                <a:solidFill>
                  <a:srgbClr val="20231E"/>
                </a:solidFill>
                <a:latin typeface="Arial"/>
                <a:ea typeface="Arial"/>
                <a:cs typeface="Arial"/>
              </a:defRPr>
            </a:pPr>
            <a:r>
              <a:rPr sz="2100" b="0">
                <a:solidFill>
                  <a:srgbClr val="20231E"/>
                </a:solidFill>
                <a:latin typeface="Arial"/>
                <a:ea typeface="Arial"/>
                <a:cs typeface="Arial"/>
              </a:rPr>
              <a:t>The same request context carries into the handoff.</a:t>
            </a:r>
          </a:p>
        </p:txBody>
      </p:sp>
      <p:sp>
        <p:nvSpPr>
          <p:cNvPr id="15" name="response-rule-3">
            <a:extLst xmlns:a="http://schemas.openxmlformats.org/drawingml/2006/main">
              <a:ext uri="{FF2B5EF4-FFF2-40B4-BE49-F238E27FC236}">
                <a16:creationId xmlns:a16="http://schemas.microsoft.com/office/drawing/2014/main" id="{342EAAA0-55BC-4FAE-A909-C0B61A8565DD}"/>
              </a:ext>
            </a:extLst>
          </p:cNvPr>
          <p:cNvSpPr>
            <a:spLocks xmlns:a="http://schemas.openxmlformats.org/drawingml/2006/main" noGrp="1"/>
          </p:cNvSpPr>
          <p:nvPr/>
        </p:nvSpPr>
        <p:spPr>
          <a:xfrm xmlns:a="http://schemas.openxmlformats.org/drawingml/2006/main">
            <a:off x="609600" y="5572125"/>
            <a:ext cx="109728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16" name="human-control">
            <a:extLst xmlns:a="http://schemas.openxmlformats.org/drawingml/2006/main">
              <a:ext uri="{FF2B5EF4-FFF2-40B4-BE49-F238E27FC236}">
                <a16:creationId xmlns:a16="http://schemas.microsoft.com/office/drawing/2014/main" id="{79E35EAA-457F-4D37-A3C4-5D3FC4795D0A}"/>
              </a:ext>
            </a:extLst>
          </p:cNvPr>
          <p:cNvSpPr>
            <a:spLocks xmlns:a="http://schemas.openxmlformats.org/drawingml/2006/main" noGrp="1"/>
          </p:cNvSpPr>
          <p:nvPr/>
        </p:nvSpPr>
        <p:spPr>
          <a:xfrm xmlns:a="http://schemas.openxmlformats.org/drawingml/2006/main">
            <a:off x="609600" y="61626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C3C"/>
                </a:solidFill>
                <a:latin typeface="Arial"/>
                <a:ea typeface="Arial"/>
                <a:cs typeface="Arial"/>
              </a:defRPr>
            </a:defPPr>
          </a:lstStyle>
          <a:p xmlns:a="http://schemas.openxmlformats.org/drawingml/2006/main">
            <a:pPr algn="l">
              <a:defRPr sz="2025" b="1">
                <a:solidFill>
                  <a:srgbClr val="304C3C"/>
                </a:solidFill>
                <a:latin typeface="Arial"/>
                <a:ea typeface="Arial"/>
                <a:cs typeface="Arial"/>
              </a:defRPr>
            </a:pPr>
            <a:r>
              <a:rPr sz="2025" b="1">
                <a:solidFill>
                  <a:srgbClr val="304C3C"/>
                </a:solidFill>
                <a:latin typeface="Arial"/>
                <a:ea typeface="Arial"/>
                <a:cs typeface="Arial"/>
              </a:rPr>
              <a:t>Human confirmation stays on the website.</a:t>
            </a:r>
          </a:p>
        </p:txBody>
      </p:sp>
    </p:spTree>
    <p:extLst>
      <p:ext uri="{BB962C8B-B14F-4D97-AF65-F5344CB8AC3E}">
        <p14:creationId xmlns:p14="http://schemas.microsoft.com/office/powerpoint/2010/main" val="855300848"/>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page-number">
            <a:extLst xmlns:a="http://schemas.openxmlformats.org/drawingml/2006/main">
              <a:ext uri="{FF2B5EF4-FFF2-40B4-BE49-F238E27FC236}">
                <a16:creationId xmlns:a16="http://schemas.microsoft.com/office/drawing/2014/main" id="{B237755E-A8A1-4565-8D20-CA41A9FD7299}"/>
              </a:ext>
            </a:extLst>
          </p:cNvPr>
          <p:cNvSpPr>
            <a:spLocks xmlns:a="http://schemas.openxmlformats.org/drawingml/2006/main" noGrp="1"/>
          </p:cNvSpPr>
          <p:nvPr/>
        </p:nvSpPr>
        <p:spPr>
          <a:xfrm xmlns:a="http://schemas.openxmlformats.org/drawingml/2006/main">
            <a:off x="10915650" y="342900"/>
            <a:ext cx="66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C6F69"/>
                </a:solidFill>
                <a:latin typeface="Arial"/>
                <a:ea typeface="Arial"/>
                <a:cs typeface="Arial"/>
              </a:defRPr>
            </a:defPPr>
          </a:lstStyle>
          <a:p xmlns:a="http://schemas.openxmlformats.org/drawingml/2006/main">
            <a:pPr algn="r">
              <a:defRPr sz="1350" b="0">
                <a:solidFill>
                  <a:srgbClr val="6C6F69"/>
                </a:solidFill>
                <a:latin typeface="Arial"/>
                <a:ea typeface="Arial"/>
                <a:cs typeface="Arial"/>
              </a:defRPr>
            </a:pPr>
            <a:r>
              <a:rPr sz="1350" b="0">
                <a:solidFill>
                  <a:srgbClr val="6C6F69"/>
                </a:solidFill>
                <a:latin typeface="Arial"/>
                <a:ea typeface="Arial"/>
                <a:cs typeface="Arial"/>
              </a:rPr>
              <a:t>6 / 7</a:t>
            </a:r>
          </a:p>
        </p:txBody>
      </p:sp>
      <p:sp>
        <p:nvSpPr>
          <p:cNvPr id="2" name="slide-title">
            <a:extLst xmlns:a="http://schemas.openxmlformats.org/drawingml/2006/main">
              <a:ext uri="{FF2B5EF4-FFF2-40B4-BE49-F238E27FC236}">
                <a16:creationId xmlns:a16="http://schemas.microsoft.com/office/drawing/2014/main" id="{462BA4FC-A488-425A-9478-39ECD46842B0}"/>
              </a:ext>
            </a:extLst>
          </p:cNvPr>
          <p:cNvSpPr>
            <a:spLocks xmlns:a="http://schemas.openxmlformats.org/drawingml/2006/main" noGrp="1"/>
          </p:cNvSpPr>
          <p:nvPr/>
        </p:nvSpPr>
        <p:spPr>
          <a:xfrm xmlns:a="http://schemas.openxmlformats.org/drawingml/2006/main">
            <a:off x="609600" y="685800"/>
            <a:ext cx="1062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0231E"/>
                </a:solidFill>
                <a:latin typeface="Arial"/>
                <a:ea typeface="Arial"/>
                <a:cs typeface="Arial"/>
              </a:defRPr>
            </a:defPPr>
          </a:lstStyle>
          <a:p xmlns:a="http://schemas.openxmlformats.org/drawingml/2006/main">
            <a:pPr algn="l">
              <a:defRPr sz="3525" b="1">
                <a:solidFill>
                  <a:srgbClr val="20231E"/>
                </a:solidFill>
                <a:latin typeface="Arial"/>
                <a:ea typeface="Arial"/>
                <a:cs typeface="Arial"/>
              </a:defRPr>
            </a:pPr>
            <a:r>
              <a:rPr sz="3525" b="1">
                <a:solidFill>
                  <a:srgbClr val="20231E"/>
                </a:solidFill>
                <a:latin typeface="Arial"/>
                <a:ea typeface="Arial"/>
                <a:cs typeface="Arial"/>
              </a:rPr>
              <a:t>Prototype: three independent site agents</a:t>
            </a:r>
          </a:p>
        </p:txBody>
      </p:sp>
      <p:sp>
        <p:nvSpPr>
          <p:cNvPr id="3" name="request">
            <a:extLst xmlns:a="http://schemas.openxmlformats.org/drawingml/2006/main">
              <a:ext uri="{FF2B5EF4-FFF2-40B4-BE49-F238E27FC236}">
                <a16:creationId xmlns:a16="http://schemas.microsoft.com/office/drawing/2014/main" id="{3D3F91A4-7D96-4C24-9101-49B9A648F020}"/>
              </a:ext>
            </a:extLst>
          </p:cNvPr>
          <p:cNvSpPr>
            <a:spLocks xmlns:a="http://schemas.openxmlformats.org/drawingml/2006/main" noGrp="1"/>
          </p:cNvSpPr>
          <p:nvPr/>
        </p:nvSpPr>
        <p:spPr>
          <a:xfrm xmlns:a="http://schemas.openxmlformats.org/drawingml/2006/main">
            <a:off x="609600" y="1962150"/>
            <a:ext cx="6800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31E"/>
                </a:solidFill>
                <a:latin typeface="Arial"/>
                <a:ea typeface="Arial"/>
                <a:cs typeface="Arial"/>
              </a:defRPr>
            </a:defPPr>
          </a:lstStyle>
          <a:p xmlns:a="http://schemas.openxmlformats.org/drawingml/2006/main">
            <a:pPr algn="l">
              <a:defRPr sz="2250" b="0">
                <a:solidFill>
                  <a:srgbClr val="20231E"/>
                </a:solidFill>
                <a:latin typeface="Arial"/>
                <a:ea typeface="Arial"/>
                <a:cs typeface="Arial"/>
              </a:defRPr>
            </a:pPr>
            <a:r>
              <a:rPr sz="2250" b="0">
                <a:solidFill>
                  <a:srgbClr val="20231E"/>
                </a:solidFill>
                <a:latin typeface="Arial"/>
                <a:ea typeface="Arial"/>
                <a:cs typeface="Arial"/>
              </a:rPr>
              <a:t>25 red roses to Kadikoy by 20:00.</a:t>
            </a:r>
          </a:p>
          <a:p xmlns:a="http://schemas.openxmlformats.org/drawingml/2006/main">
            <a:pPr algn="l">
              <a:defRPr sz="2250" b="0">
                <a:solidFill>
                  <a:srgbClr val="20231E"/>
                </a:solidFill>
                <a:latin typeface="Arial"/>
                <a:ea typeface="Arial"/>
                <a:cs typeface="Arial"/>
              </a:defRPr>
            </a:pPr>
            <a:r>
              <a:rPr sz="2250" b="0">
                <a:solidFill>
                  <a:srgbClr val="20231E"/>
                </a:solidFill>
                <a:latin typeface="Arial"/>
                <a:ea typeface="Arial"/>
                <a:cs typeface="Arial"/>
              </a:rPr>
              <a:t>Under 1,500 TRY including delivery.</a:t>
            </a:r>
          </a:p>
        </p:txBody>
      </p:sp>
      <p:graphicFrame>
        <p:nvGraphicFramePr>
          <p:cNvPr id="4" name="">
            <a:extLst xmlns:a="http://schemas.openxmlformats.org/drawingml/2006/main">
              <a:ext uri="{FF2B5EF4-FFF2-40B4-BE49-F238E27FC236}">
                <a16:creationId xmlns:a16="http://schemas.microsoft.com/office/drawing/2014/main" id="{D3CBBC62-7AF9-407D-BA18-028F534F4483}"/>
              </a:ext>
            </a:extLst>
          </p:cNvPr>
          <p:cNvGraphicFramePr/>
          <p:nvPr/>
        </p:nvGraphicFramePr>
        <p:xfrm>
          <a:off xmlns:a="http://schemas.openxmlformats.org/drawingml/2006/main" x="609600" y="3429000"/>
          <a:ext xmlns:a="http://schemas.openxmlformats.org/drawingml/2006/main" cx="6705600" cy="2428875"/>
        </p:xfrm>
        <a:graphic xmlns:a="http://schemas.openxmlformats.org/drawingml/2006/main">
          <a:graphicData uri="http://schemas.openxmlformats.org/drawingml/2006/table">
            <a:tbl>
              <a:tblPr firstRow="0" bandRow="0" bandCol="0"/>
              <a:tblGrid>
                <a:gridCol w="2667000"/>
                <a:gridCol w="4038600"/>
              </a:tblGrid>
              <a:tr h="809625">
                <a:tc>
                  <a:txBody>
                    <a:bodyPr wrap="square">
                      <a:noAutofit/>
                    </a:bodyPr>
                    <a:lstStyle/>
                    <a:p>
                      <a:pPr algn="l"/>
                      <a:r>
                        <a:rPr sz="1950" b="1">
                          <a:solidFill>
                            <a:srgbClr val="20231E"/>
                          </a:solidFill>
                          <a:latin typeface="Arial"/>
                          <a:ea typeface="Arial"/>
                          <a:cs typeface="Arial"/>
                        </a:rPr>
                        <a:t>Rose &amp; Stem</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C4DF92"/>
                    </a:solidFill>
                  </a:tcPr>
                </a:tc>
                <a:tc>
                  <a:txBody>
                    <a:bodyPr wrap="square">
                      <a:noAutofit/>
                    </a:bodyPr>
                    <a:lstStyle/>
                    <a:p>
                      <a:pPr algn="l"/>
                      <a:r>
                        <a:rPr sz="1950" b="0">
                          <a:solidFill>
                            <a:srgbClr val="20231E"/>
                          </a:solidFill>
                          <a:latin typeface="Arial"/>
                          <a:ea typeface="Arial"/>
                          <a:cs typeface="Arial"/>
                        </a:rPr>
                        <a:t>Exact match</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C4DF92"/>
                    </a:solidFill>
                  </a:tcPr>
                </a:tc>
              </a:tr>
              <a:tr h="809625">
                <a:tc>
                  <a:txBody>
                    <a:bodyPr wrap="square">
                      <a:noAutofit/>
                    </a:bodyPr>
                    <a:lstStyle/>
                    <a:p>
                      <a:pPr algn="l"/>
                      <a:r>
                        <a:rPr sz="1950" b="1">
                          <a:solidFill>
                            <a:srgbClr val="20231E"/>
                          </a:solidFill>
                          <a:latin typeface="Arial"/>
                          <a:ea typeface="Arial"/>
                          <a:cs typeface="Arial"/>
                        </a:rPr>
                        <a:t>Petal Atelier</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1950" b="0">
                          <a:solidFill>
                            <a:srgbClr val="20231E"/>
                          </a:solidFill>
                          <a:latin typeface="Arial"/>
                          <a:ea typeface="Arial"/>
                          <a:cs typeface="Arial"/>
                        </a:rPr>
                        <a:t>Cannot meet the request</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r>
              <a:tr h="809625">
                <a:tc>
                  <a:txBody>
                    <a:bodyPr wrap="square">
                      <a:noAutofit/>
                    </a:bodyPr>
                    <a:lstStyle/>
                    <a:p>
                      <a:pPr algn="l"/>
                      <a:r>
                        <a:rPr sz="1950" b="1">
                          <a:solidFill>
                            <a:srgbClr val="20231E"/>
                          </a:solidFill>
                          <a:latin typeface="Arial"/>
                          <a:ea typeface="Arial"/>
                          <a:cs typeface="Arial"/>
                        </a:rPr>
                        <a:t>Tulip House</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c>
                  <a:txBody>
                    <a:bodyPr wrap="square">
                      <a:noAutofit/>
                    </a:bodyPr>
                    <a:lstStyle/>
                    <a:p>
                      <a:pPr algn="l"/>
                      <a:r>
                        <a:rPr sz="1950" b="0">
                          <a:solidFill>
                            <a:srgbClr val="20231E"/>
                          </a:solidFill>
                          <a:latin typeface="Arial"/>
                          <a:ea typeface="Arial"/>
                          <a:cs typeface="Arial"/>
                        </a:rPr>
                        <a:t>Pink roses need approval</a:t>
                      </a:r>
                    </a:p>
                  </a:txBody>
                  <a:tcPr marL="152400" marR="152400" marT="114300" marB="114300" anchor="ctr">
                    <a:lnL w="5715">
                      <a:solidFill>
                        <a:srgbClr val="DCDED6"/>
                      </a:solidFill>
                      <a:prstDash val="solid"/>
                    </a:lnL>
                    <a:lnR w="5715">
                      <a:solidFill>
                        <a:srgbClr val="DCDED6"/>
                      </a:solidFill>
                      <a:prstDash val="solid"/>
                    </a:lnR>
                    <a:lnT w="5715">
                      <a:solidFill>
                        <a:srgbClr val="DCDED6"/>
                      </a:solidFill>
                      <a:prstDash val="solid"/>
                    </a:lnT>
                    <a:lnB w="5715">
                      <a:solidFill>
                        <a:srgbClr val="DCDED6"/>
                      </a:solidFill>
                      <a:prstDash val="solid"/>
                    </a:lnB>
                    <a:solidFill>
                      <a:srgbClr val="F7F7F2"/>
                    </a:solidFill>
                  </a:tcPr>
                </a:tc>
              </a:tr>
            </a:tbl>
          </a:graphicData>
        </a:graphic>
      </p:graphicFrame>
      <p:sp>
        <p:nvSpPr>
          <p:cNvPr id="5" name="prototype-outcomes-row-0">
            <a:extLst xmlns:a="http://schemas.openxmlformats.org/drawingml/2006/main">
              <a:ext uri="{FF2B5EF4-FFF2-40B4-BE49-F238E27FC236}">
                <a16:creationId xmlns:a16="http://schemas.microsoft.com/office/drawing/2014/main" id="{145307B2-A2DE-4BFF-B4CF-CE0393ED20D8}"/>
              </a:ext>
            </a:extLst>
          </p:cNvPr>
          <p:cNvSpPr>
            <a:spLocks xmlns:a="http://schemas.openxmlformats.org/drawingml/2006/main" noGrp="1"/>
          </p:cNvSpPr>
          <p:nvPr/>
        </p:nvSpPr>
        <p:spPr>
          <a:xfrm xmlns:a="http://schemas.openxmlformats.org/drawingml/2006/main">
            <a:off x="609600" y="4238625"/>
            <a:ext cx="67056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6" name="prototype-outcomes-row-1">
            <a:extLst xmlns:a="http://schemas.openxmlformats.org/drawingml/2006/main">
              <a:ext uri="{FF2B5EF4-FFF2-40B4-BE49-F238E27FC236}">
                <a16:creationId xmlns:a16="http://schemas.microsoft.com/office/drawing/2014/main" id="{B97D3BD8-18CB-4F39-A861-F3BF7F86FF0F}"/>
              </a:ext>
            </a:extLst>
          </p:cNvPr>
          <p:cNvSpPr>
            <a:spLocks xmlns:a="http://schemas.openxmlformats.org/drawingml/2006/main" noGrp="1"/>
          </p:cNvSpPr>
          <p:nvPr/>
        </p:nvSpPr>
        <p:spPr>
          <a:xfrm xmlns:a="http://schemas.openxmlformats.org/drawingml/2006/main">
            <a:off x="609600" y="5048250"/>
            <a:ext cx="67056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7" name="prototype-outcomes-row-2">
            <a:extLst xmlns:a="http://schemas.openxmlformats.org/drawingml/2006/main">
              <a:ext uri="{FF2B5EF4-FFF2-40B4-BE49-F238E27FC236}">
                <a16:creationId xmlns:a16="http://schemas.microsoft.com/office/drawing/2014/main" id="{A1D48254-4990-4B6B-A0C1-E6484DBE9994}"/>
              </a:ext>
            </a:extLst>
          </p:cNvPr>
          <p:cNvSpPr>
            <a:spLocks xmlns:a="http://schemas.openxmlformats.org/drawingml/2006/main" noGrp="1"/>
          </p:cNvSpPr>
          <p:nvPr/>
        </p:nvSpPr>
        <p:spPr>
          <a:xfrm xmlns:a="http://schemas.openxmlformats.org/drawingml/2006/main">
            <a:off x="609600" y="5857875"/>
            <a:ext cx="6705600" cy="0"/>
          </a:xfrm>
          <a:prstGeom xmlns:a="http://schemas.openxmlformats.org/drawingml/2006/main" prst="line">
            <a:avLst/>
          </a:prstGeom>
          <a:noFill xmlns:a="http://schemas.openxmlformats.org/drawingml/2006/main"/>
          <a:ln xmlns:a="http://schemas.openxmlformats.org/drawingml/2006/main" w="9525">
            <a:solidFill>
              <a:srgbClr val="DCDED6"/>
            </a:solidFill>
            <a:prstDash val="solid"/>
          </a:ln>
        </p:spPr>
      </p:sp>
      <p:sp>
        <p:nvSpPr>
          <p:cNvPr id="8" name="quote-label">
            <a:extLst xmlns:a="http://schemas.openxmlformats.org/drawingml/2006/main">
              <a:ext uri="{FF2B5EF4-FFF2-40B4-BE49-F238E27FC236}">
                <a16:creationId xmlns:a16="http://schemas.microsoft.com/office/drawing/2014/main" id="{3C0CF859-24B3-4E5B-A449-CEA5D2BBEEBA}"/>
              </a:ext>
            </a:extLst>
          </p:cNvPr>
          <p:cNvSpPr>
            <a:spLocks xmlns:a="http://schemas.openxmlformats.org/drawingml/2006/main" noGrp="1"/>
          </p:cNvSpPr>
          <p:nvPr/>
        </p:nvSpPr>
        <p:spPr>
          <a:xfrm xmlns:a="http://schemas.openxmlformats.org/drawingml/2006/main">
            <a:off x="8001000" y="2628900"/>
            <a:ext cx="3448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C3C"/>
                </a:solidFill>
                <a:latin typeface="Arial"/>
                <a:ea typeface="Arial"/>
                <a:cs typeface="Arial"/>
              </a:defRPr>
            </a:defPPr>
          </a:lstStyle>
          <a:p xmlns:a="http://schemas.openxmlformats.org/drawingml/2006/main">
            <a:pPr algn="l">
              <a:defRPr sz="2025" b="1">
                <a:solidFill>
                  <a:srgbClr val="304C3C"/>
                </a:solidFill>
                <a:latin typeface="Arial"/>
                <a:ea typeface="Arial"/>
                <a:cs typeface="Arial"/>
              </a:defRPr>
            </a:pPr>
            <a:r>
              <a:rPr sz="2025" b="1">
                <a:solidFill>
                  <a:srgbClr val="304C3C"/>
                </a:solidFill>
                <a:latin typeface="Arial"/>
                <a:ea typeface="Arial"/>
                <a:cs typeface="Arial"/>
              </a:rPr>
              <a:t>Exact match</a:t>
            </a:r>
          </a:p>
        </p:txBody>
      </p:sp>
      <p:sp>
        <p:nvSpPr>
          <p:cNvPr id="9" name="quote-price">
            <a:extLst xmlns:a="http://schemas.openxmlformats.org/drawingml/2006/main">
              <a:ext uri="{FF2B5EF4-FFF2-40B4-BE49-F238E27FC236}">
                <a16:creationId xmlns:a16="http://schemas.microsoft.com/office/drawing/2014/main" id="{FD574645-9527-45A8-8D95-6B0DB4839506}"/>
              </a:ext>
            </a:extLst>
          </p:cNvPr>
          <p:cNvSpPr>
            <a:spLocks xmlns:a="http://schemas.openxmlformats.org/drawingml/2006/main" noGrp="1"/>
          </p:cNvSpPr>
          <p:nvPr/>
        </p:nvSpPr>
        <p:spPr>
          <a:xfrm xmlns:a="http://schemas.openxmlformats.org/drawingml/2006/main">
            <a:off x="8001000" y="3190875"/>
            <a:ext cx="3562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20231E"/>
                </a:solidFill>
                <a:latin typeface="Arial"/>
                <a:ea typeface="Arial"/>
                <a:cs typeface="Arial"/>
              </a:defRPr>
            </a:defPPr>
          </a:lstStyle>
          <a:p xmlns:a="http://schemas.openxmlformats.org/drawingml/2006/main">
            <a:pPr algn="l">
              <a:defRPr sz="4650" b="1">
                <a:solidFill>
                  <a:srgbClr val="20231E"/>
                </a:solidFill>
                <a:latin typeface="Arial"/>
                <a:ea typeface="Arial"/>
                <a:cs typeface="Arial"/>
              </a:defRPr>
            </a:pPr>
            <a:r>
              <a:rPr sz="4650" b="1">
                <a:solidFill>
                  <a:srgbClr val="20231E"/>
                </a:solidFill>
                <a:latin typeface="Arial"/>
                <a:ea typeface="Arial"/>
                <a:cs typeface="Arial"/>
              </a:rPr>
              <a:t>1,370 TRY</a:t>
            </a:r>
          </a:p>
        </p:txBody>
      </p:sp>
      <p:sp>
        <p:nvSpPr>
          <p:cNvPr id="10" name="quote-delivery">
            <a:extLst xmlns:a="http://schemas.openxmlformats.org/drawingml/2006/main">
              <a:ext uri="{FF2B5EF4-FFF2-40B4-BE49-F238E27FC236}">
                <a16:creationId xmlns:a16="http://schemas.microsoft.com/office/drawing/2014/main" id="{15D164FE-E250-43DE-810A-9E78AB72A466}"/>
              </a:ext>
            </a:extLst>
          </p:cNvPr>
          <p:cNvSpPr>
            <a:spLocks xmlns:a="http://schemas.openxmlformats.org/drawingml/2006/main" noGrp="1"/>
          </p:cNvSpPr>
          <p:nvPr/>
        </p:nvSpPr>
        <p:spPr>
          <a:xfrm xmlns:a="http://schemas.openxmlformats.org/drawingml/2006/main">
            <a:off x="8001000" y="4305300"/>
            <a:ext cx="3429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0231E"/>
                </a:solidFill>
                <a:latin typeface="Arial"/>
                <a:ea typeface="Arial"/>
                <a:cs typeface="Arial"/>
              </a:defRPr>
            </a:defPPr>
          </a:lstStyle>
          <a:p xmlns:a="http://schemas.openxmlformats.org/drawingml/2006/main">
            <a:pPr algn="l">
              <a:defRPr sz="2325" b="0">
                <a:solidFill>
                  <a:srgbClr val="20231E"/>
                </a:solidFill>
                <a:latin typeface="Arial"/>
                <a:ea typeface="Arial"/>
                <a:cs typeface="Arial"/>
              </a:defRPr>
            </a:pPr>
            <a:r>
              <a:rPr sz="2325" b="0">
                <a:solidFill>
                  <a:srgbClr val="20231E"/>
                </a:solidFill>
                <a:latin typeface="Arial"/>
                <a:ea typeface="Arial"/>
                <a:cs typeface="Arial"/>
              </a:rPr>
              <a:t>Including delivery</a:t>
            </a:r>
          </a:p>
          <a:p xmlns:a="http://schemas.openxmlformats.org/drawingml/2006/main">
            <a:pPr algn="l">
              <a:defRPr sz="2325" b="0">
                <a:solidFill>
                  <a:srgbClr val="20231E"/>
                </a:solidFill>
                <a:latin typeface="Arial"/>
                <a:ea typeface="Arial"/>
                <a:cs typeface="Arial"/>
              </a:defRPr>
            </a:pPr>
            <a:r>
              <a:rPr sz="2325" b="0">
                <a:solidFill>
                  <a:srgbClr val="20231E"/>
                </a:solidFill>
                <a:latin typeface="Arial"/>
                <a:ea typeface="Arial"/>
                <a:cs typeface="Arial"/>
              </a:rPr>
              <a:t>Today by 19:30</a:t>
            </a:r>
          </a:p>
        </p:txBody>
      </p:sp>
      <p:sp>
        <p:nvSpPr>
          <p:cNvPr id="11" name="demo-disclosure">
            <a:extLst xmlns:a="http://schemas.openxmlformats.org/drawingml/2006/main">
              <a:ext uri="{FF2B5EF4-FFF2-40B4-BE49-F238E27FC236}">
                <a16:creationId xmlns:a16="http://schemas.microsoft.com/office/drawing/2014/main" id="{03B86246-B9D7-4894-8C1F-C769C8545018}"/>
              </a:ext>
            </a:extLst>
          </p:cNvPr>
          <p:cNvSpPr>
            <a:spLocks xmlns:a="http://schemas.openxmlformats.org/drawingml/2006/main" noGrp="1"/>
          </p:cNvSpPr>
          <p:nvPr/>
        </p:nvSpPr>
        <p:spPr>
          <a:xfrm xmlns:a="http://schemas.openxmlformats.org/drawingml/2006/main">
            <a:off x="609600" y="62865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C6F69"/>
                </a:solidFill>
                <a:latin typeface="Arial"/>
                <a:ea typeface="Arial"/>
                <a:cs typeface="Arial"/>
              </a:defRPr>
            </a:defPPr>
          </a:lstStyle>
          <a:p xmlns:a="http://schemas.openxmlformats.org/drawingml/2006/main">
            <a:pPr algn="l">
              <a:defRPr sz="1575" b="0">
                <a:solidFill>
                  <a:srgbClr val="6C6F69"/>
                </a:solidFill>
                <a:latin typeface="Arial"/>
                <a:ea typeface="Arial"/>
                <a:cs typeface="Arial"/>
              </a:defRPr>
            </a:pPr>
            <a:r>
              <a:rPr sz="1575" b="0">
                <a:solidFill>
                  <a:srgbClr val="6C6F69"/>
                </a:solidFill>
                <a:latin typeface="Arial"/>
                <a:ea typeface="Arial"/>
                <a:cs typeface="Arial"/>
              </a:rPr>
              <a:t>Fictional demo data. Fixed scenario clock. Checkout is simulated.</a:t>
            </a:r>
          </a:p>
        </p:txBody>
      </p:sp>
    </p:spTree>
    <p:extLst>
      <p:ext uri="{BB962C8B-B14F-4D97-AF65-F5344CB8AC3E}">
        <p14:creationId xmlns:p14="http://schemas.microsoft.com/office/powerpoint/2010/main" val="1831146944"/>
      </p:ext>
    </p:extLst>
  </p:cSld>
</p:sld>
</file>

<file path=ppt/slides/slide7.xml><?xml version="1.0" encoding="utf-8"?>
<p:sld xmlns:p="http://schemas.openxmlformats.org/presentationml/2006/main">
  <p:cSld>
    <p:bg>
      <p:bgPr>
        <a:solidFill xmlns:a="http://schemas.openxmlformats.org/drawingml/2006/main">
          <a:srgbClr val="304C3C"/>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EBE4A72D-26C3-4896-B45F-BBABA683D53C}"/>
              </a:ext>
            </a:extLst>
          </p:cNvPr>
          <p:cNvSpPr>
            <a:spLocks xmlns:a="http://schemas.openxmlformats.org/drawingml/2006/main" noGrp="1"/>
          </p:cNvSpPr>
          <p:nvPr/>
        </p:nvSpPr>
        <p:spPr>
          <a:xfrm xmlns:a="http://schemas.openxmlformats.org/drawingml/2006/main">
            <a:off x="609600" y="7239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7F7F2"/>
                </a:solidFill>
                <a:latin typeface="Arial"/>
                <a:ea typeface="Arial"/>
                <a:cs typeface="Arial"/>
              </a:defRPr>
            </a:defPPr>
          </a:lstStyle>
          <a:p xmlns:a="http://schemas.openxmlformats.org/drawingml/2006/main">
            <a:pPr algn="l">
              <a:defRPr sz="3975" b="1">
                <a:solidFill>
                  <a:srgbClr val="F7F7F2"/>
                </a:solidFill>
                <a:latin typeface="Arial"/>
                <a:ea typeface="Arial"/>
                <a:cs typeface="Arial"/>
              </a:defRPr>
            </a:pPr>
            <a:r>
              <a:rPr sz="3975" b="1">
                <a:solidFill>
                  <a:srgbClr val="F7F7F2"/>
                </a:solidFill>
                <a:latin typeface="Arial"/>
                <a:ea typeface="Arial"/>
                <a:cs typeface="Arial"/>
              </a:rPr>
              <a:t>AskAgent Protocol</a:t>
            </a:r>
          </a:p>
        </p:txBody>
      </p:sp>
      <p:sp>
        <p:nvSpPr>
          <p:cNvPr id="2" name="closing">
            <a:extLst xmlns:a="http://schemas.openxmlformats.org/drawingml/2006/main">
              <a:ext uri="{FF2B5EF4-FFF2-40B4-BE49-F238E27FC236}">
                <a16:creationId xmlns:a16="http://schemas.microsoft.com/office/drawing/2014/main" id="{4B16B091-BE46-4CCC-A57E-D94546E644F7}"/>
              </a:ext>
            </a:extLst>
          </p:cNvPr>
          <p:cNvSpPr>
            <a:spLocks xmlns:a="http://schemas.openxmlformats.org/drawingml/2006/main" noGrp="1"/>
          </p:cNvSpPr>
          <p:nvPr/>
        </p:nvSpPr>
        <p:spPr>
          <a:xfrm xmlns:a="http://schemas.openxmlformats.org/drawingml/2006/main">
            <a:off x="609600" y="2409825"/>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F7F7F2"/>
                </a:solidFill>
                <a:latin typeface="Arial"/>
                <a:ea typeface="Arial"/>
                <a:cs typeface="Arial"/>
              </a:defRPr>
            </a:defPPr>
          </a:lstStyle>
          <a:p xmlns:a="http://schemas.openxmlformats.org/drawingml/2006/main">
            <a:pPr algn="l">
              <a:defRPr sz="5175" b="1">
                <a:solidFill>
                  <a:srgbClr val="F7F7F2"/>
                </a:solidFill>
                <a:latin typeface="Arial"/>
                <a:ea typeface="Arial"/>
                <a:cs typeface="Arial"/>
              </a:defRPr>
            </a:pPr>
            <a:r>
              <a:rPr sz="5175" b="1">
                <a:solidFill>
                  <a:srgbClr val="F7F7F2"/>
                </a:solidFill>
                <a:latin typeface="Arial"/>
                <a:ea typeface="Arial"/>
                <a:cs typeface="Arial"/>
              </a:rPr>
              <a:t>A website’s expertise.</a:t>
            </a:r>
          </a:p>
          <a:p xmlns:a="http://schemas.openxmlformats.org/drawingml/2006/main">
            <a:pPr algn="l">
              <a:defRPr sz="5175" b="1">
                <a:solidFill>
                  <a:srgbClr val="F7F7F2"/>
                </a:solidFill>
                <a:latin typeface="Arial"/>
                <a:ea typeface="Arial"/>
                <a:cs typeface="Arial"/>
              </a:defRPr>
            </a:pPr>
            <a:r>
              <a:rPr sz="5175" b="1">
                <a:solidFill>
                  <a:srgbClr val="F7F7F2"/>
                </a:solidFill>
                <a:latin typeface="Arial"/>
                <a:ea typeface="Arial"/>
                <a:cs typeface="Arial"/>
              </a:rPr>
              <a:t>A direct conversation.</a:t>
            </a:r>
          </a:p>
        </p:txBody>
      </p:sp>
      <p:sp>
        <p:nvSpPr>
          <p:cNvPr id="3" name="closing-rule">
            <a:extLst xmlns:a="http://schemas.openxmlformats.org/drawingml/2006/main">
              <a:ext uri="{FF2B5EF4-FFF2-40B4-BE49-F238E27FC236}">
                <a16:creationId xmlns:a16="http://schemas.microsoft.com/office/drawing/2014/main" id="{1292BA10-1BE4-42BE-B0BE-1DFACBCA122B}"/>
              </a:ext>
            </a:extLst>
          </p:cNvPr>
          <p:cNvSpPr>
            <a:spLocks xmlns:a="http://schemas.openxmlformats.org/drawingml/2006/main" noGrp="1"/>
          </p:cNvSpPr>
          <p:nvPr/>
        </p:nvSpPr>
        <p:spPr>
          <a:xfrm xmlns:a="http://schemas.openxmlformats.org/drawingml/2006/main">
            <a:off x="609600" y="5162550"/>
            <a:ext cx="10972800" cy="0"/>
          </a:xfrm>
          <a:prstGeom xmlns:a="http://schemas.openxmlformats.org/drawingml/2006/main" prst="line">
            <a:avLst/>
          </a:prstGeom>
          <a:noFill xmlns:a="http://schemas.openxmlformats.org/drawingml/2006/main"/>
          <a:ln xmlns:a="http://schemas.openxmlformats.org/drawingml/2006/main" w="9525">
            <a:solidFill>
              <a:srgbClr val="71856C"/>
            </a:solidFill>
            <a:prstDash val="solid"/>
          </a:ln>
        </p:spPr>
      </p:sp>
      <p:sp>
        <p:nvSpPr>
          <p:cNvPr id="4" name="built-label">
            <a:extLst xmlns:a="http://schemas.openxmlformats.org/drawingml/2006/main">
              <a:ext uri="{FF2B5EF4-FFF2-40B4-BE49-F238E27FC236}">
                <a16:creationId xmlns:a16="http://schemas.microsoft.com/office/drawing/2014/main" id="{B8F2BECF-C13B-4BA2-AB5A-F13CE120CFB6}"/>
              </a:ext>
            </a:extLst>
          </p:cNvPr>
          <p:cNvSpPr>
            <a:spLocks xmlns:a="http://schemas.openxmlformats.org/drawingml/2006/main" noGrp="1"/>
          </p:cNvSpPr>
          <p:nvPr/>
        </p:nvSpPr>
        <p:spPr>
          <a:xfrm xmlns:a="http://schemas.openxmlformats.org/drawingml/2006/main">
            <a:off x="609600" y="5562600"/>
            <a:ext cx="4838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4DF92"/>
                </a:solidFill>
                <a:latin typeface="Arial"/>
                <a:ea typeface="Arial"/>
                <a:cs typeface="Arial"/>
              </a:defRPr>
            </a:defPPr>
          </a:lstStyle>
          <a:p xmlns:a="http://schemas.openxmlformats.org/drawingml/2006/main">
            <a:pPr algn="l">
              <a:defRPr sz="1875" b="1">
                <a:solidFill>
                  <a:srgbClr val="C4DF92"/>
                </a:solidFill>
                <a:latin typeface="Arial"/>
                <a:ea typeface="Arial"/>
                <a:cs typeface="Arial"/>
              </a:defRPr>
            </a:pPr>
            <a:r>
              <a:rPr sz="1875" b="1">
                <a:solidFill>
                  <a:srgbClr val="C4DF92"/>
                </a:solidFill>
                <a:latin typeface="Arial"/>
                <a:ea typeface="Arial"/>
                <a:cs typeface="Arial"/>
              </a:rPr>
              <a:t>Built today</a:t>
            </a:r>
          </a:p>
        </p:txBody>
      </p:sp>
      <p:sp>
        <p:nvSpPr>
          <p:cNvPr id="5" name="built-description">
            <a:extLst xmlns:a="http://schemas.openxmlformats.org/drawingml/2006/main">
              <a:ext uri="{FF2B5EF4-FFF2-40B4-BE49-F238E27FC236}">
                <a16:creationId xmlns:a16="http://schemas.microsoft.com/office/drawing/2014/main" id="{317633A8-A765-4277-8DC6-91B859351285}"/>
              </a:ext>
            </a:extLst>
          </p:cNvPr>
          <p:cNvSpPr>
            <a:spLocks xmlns:a="http://schemas.openxmlformats.org/drawingml/2006/main" noGrp="1"/>
          </p:cNvSpPr>
          <p:nvPr/>
        </p:nvSpPr>
        <p:spPr>
          <a:xfrm xmlns:a="http://schemas.openxmlformats.org/drawingml/2006/main">
            <a:off x="609600" y="60388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7F7F2"/>
                </a:solidFill>
                <a:latin typeface="Arial"/>
                <a:ea typeface="Arial"/>
                <a:cs typeface="Arial"/>
              </a:defRPr>
            </a:defPPr>
          </a:lstStyle>
          <a:p xmlns:a="http://schemas.openxmlformats.org/drawingml/2006/main">
            <a:pPr algn="l">
              <a:defRPr sz="2025" b="0">
                <a:solidFill>
                  <a:srgbClr val="F7F7F2"/>
                </a:solidFill>
                <a:latin typeface="Arial"/>
                <a:ea typeface="Arial"/>
                <a:cs typeface="Arial"/>
              </a:defRPr>
            </a:pPr>
            <a:r>
              <a:rPr sz="2025" b="0">
                <a:solidFill>
                  <a:srgbClr val="F7F7F2"/>
                </a:solidFill>
                <a:latin typeface="Arial"/>
                <a:ea typeface="Arial"/>
                <a:cs typeface="Arial"/>
              </a:rPr>
              <a:t>A link-based florist adapter</a:t>
            </a:r>
          </a:p>
        </p:txBody>
      </p:sp>
      <p:sp>
        <p:nvSpPr>
          <p:cNvPr id="6" name="next-label">
            <a:extLst xmlns:a="http://schemas.openxmlformats.org/drawingml/2006/main">
              <a:ext uri="{FF2B5EF4-FFF2-40B4-BE49-F238E27FC236}">
                <a16:creationId xmlns:a16="http://schemas.microsoft.com/office/drawing/2014/main" id="{53598DEE-EB30-4180-B76F-7C214D805401}"/>
              </a:ext>
            </a:extLst>
          </p:cNvPr>
          <p:cNvSpPr>
            <a:spLocks xmlns:a="http://schemas.openxmlformats.org/drawingml/2006/main" noGrp="1"/>
          </p:cNvSpPr>
          <p:nvPr/>
        </p:nvSpPr>
        <p:spPr>
          <a:xfrm xmlns:a="http://schemas.openxmlformats.org/drawingml/2006/main">
            <a:off x="6762750" y="5562600"/>
            <a:ext cx="4819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4DF92"/>
                </a:solidFill>
                <a:latin typeface="Arial"/>
                <a:ea typeface="Arial"/>
                <a:cs typeface="Arial"/>
              </a:defRPr>
            </a:defPPr>
          </a:lstStyle>
          <a:p xmlns:a="http://schemas.openxmlformats.org/drawingml/2006/main">
            <a:pPr algn="l">
              <a:defRPr sz="1875" b="1">
                <a:solidFill>
                  <a:srgbClr val="C4DF92"/>
                </a:solidFill>
                <a:latin typeface="Arial"/>
                <a:ea typeface="Arial"/>
                <a:cs typeface="Arial"/>
              </a:defRPr>
            </a:pPr>
            <a:r>
              <a:rPr sz="1875" b="1">
                <a:solidFill>
                  <a:srgbClr val="C4DF92"/>
                </a:solidFill>
                <a:latin typeface="Arial"/>
                <a:ea typeface="Arial"/>
                <a:cs typeface="Arial"/>
              </a:rPr>
              <a:t>Next</a:t>
            </a:r>
          </a:p>
        </p:txBody>
      </p:sp>
      <p:sp>
        <p:nvSpPr>
          <p:cNvPr id="7" name="next-description">
            <a:extLst xmlns:a="http://schemas.openxmlformats.org/drawingml/2006/main">
              <a:ext uri="{FF2B5EF4-FFF2-40B4-BE49-F238E27FC236}">
                <a16:creationId xmlns:a16="http://schemas.microsoft.com/office/drawing/2014/main" id="{B2F389B6-C670-41CE-86EC-19A7ECFBAF63}"/>
              </a:ext>
            </a:extLst>
          </p:cNvPr>
          <p:cNvSpPr>
            <a:spLocks xmlns:a="http://schemas.openxmlformats.org/drawingml/2006/main" noGrp="1"/>
          </p:cNvSpPr>
          <p:nvPr/>
        </p:nvSpPr>
        <p:spPr>
          <a:xfrm xmlns:a="http://schemas.openxmlformats.org/drawingml/2006/main">
            <a:off x="6762750" y="6038850"/>
            <a:ext cx="4819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7F7F2"/>
                </a:solidFill>
                <a:latin typeface="Arial"/>
                <a:ea typeface="Arial"/>
                <a:cs typeface="Arial"/>
              </a:defRPr>
            </a:defPPr>
          </a:lstStyle>
          <a:p xmlns:a="http://schemas.openxmlformats.org/drawingml/2006/main">
            <a:pPr algn="l">
              <a:defRPr sz="2025" b="0">
                <a:solidFill>
                  <a:srgbClr val="F7F7F2"/>
                </a:solidFill>
                <a:latin typeface="Arial"/>
                <a:ea typeface="Arial"/>
                <a:cs typeface="Arial"/>
              </a:defRPr>
            </a:pPr>
            <a:r>
              <a:rPr sz="2025" b="0">
                <a:solidFill>
                  <a:srgbClr val="F7F7F2"/>
                </a:solidFill>
                <a:latin typeface="Arial"/>
                <a:ea typeface="Arial"/>
                <a:cs typeface="Arial"/>
              </a:rPr>
              <a:t>Merchant pilots and</a:t>
            </a:r>
          </a:p>
          <a:p xmlns:a="http://schemas.openxmlformats.org/drawingml/2006/main">
            <a:pPr algn="l">
              <a:defRPr sz="2025" b="0">
                <a:solidFill>
                  <a:srgbClr val="F7F7F2"/>
                </a:solidFill>
                <a:latin typeface="Arial"/>
                <a:ea typeface="Arial"/>
                <a:cs typeface="Arial"/>
              </a:defRPr>
            </a:pPr>
            <a:r>
              <a:rPr sz="2025" b="0">
                <a:solidFill>
                  <a:srgbClr val="F7F7F2"/>
                </a:solidFill>
                <a:latin typeface="Arial"/>
                <a:ea typeface="Arial"/>
                <a:cs typeface="Arial"/>
              </a:rPr>
              <a:t>more website adapters</a:t>
            </a:r>
          </a:p>
        </p:txBody>
      </p:sp>
    </p:spTree>
    <p:extLst>
      <p:ext uri="{BB962C8B-B14F-4D97-AF65-F5344CB8AC3E}">
        <p14:creationId xmlns:p14="http://schemas.microsoft.com/office/powerpoint/2010/main" val="2077907527"/>
      </p:ext>
    </p:extLst>
  </p:cSld>
</p:sld>
</file>

<file path=ppt/theme/theme1.xml><?xml version="1.0" encoding="utf-8"?>
<a:theme xmlns:a="http://schemas.openxmlformats.org/drawingml/2006/main" name="ChatGPT">
  <a:themeElements>
    <a:clrScheme name="AskAgent Editorial">
      <a:dk1>
        <a:srgbClr val="20231E"/>
      </a:dk1>
      <a:lt1>
        <a:srgbClr val="F7F7F2"/>
      </a:lt1>
      <a:dk2>
        <a:srgbClr val="304C3C"/>
      </a:dk2>
      <a:lt2>
        <a:srgbClr val="FFFFFF"/>
      </a:lt2>
      <a:accent1>
        <a:srgbClr val="C4DF92"/>
      </a:accent1>
      <a:accent2>
        <a:srgbClr val="304C3C"/>
      </a:accent2>
      <a:accent3>
        <a:srgbClr val="6C6F69"/>
      </a:accent3>
      <a:accent4>
        <a:srgbClr val="DCDED6"/>
      </a:accent4>
      <a:accent5>
        <a:srgbClr val="D4C3A5"/>
      </a:accent5>
      <a:accent6>
        <a:srgbClr val="9B3D33"/>
      </a:accent6>
      <a:hlink>
        <a:srgbClr val="304C3C"/>
      </a:hlink>
      <a:folHlink>
        <a:srgbClr val="6C6F69"/>
      </a:folHlink>
    </a:clrScheme>
    <a:fontScheme name="">
      <a:majorFont>
        <a:latin typeface="Arial"/>
        <a:ea typeface=""/>
        <a:cs typeface=""/>
      </a:majorFont>
      <a:minorFont>
        <a:latin typeface="Arial"/>
        <a:ea typeface=""/>
        <a:cs typeface=""/>
      </a:minorFont>
    </a:fontScheme>
    <a:fmtScheme name="AskAgen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2026-10-12T13:01:38.7020000Z</dcterms:created>
  <dcterms:modified xsi:type="dcterms:W3CDTF">2026-10-12T13:01:38.7020000Z</dcterms:modified>
</coreProperties>
</file>